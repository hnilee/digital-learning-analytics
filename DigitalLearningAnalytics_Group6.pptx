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Lst>
  <p:sldSz cx="18288000" cy="10287000"/>
  <p:notesSz cx="6858000" cy="9144000"/>
  <p:embeddedFontLst>
    <p:embeddedFont>
      <p:font typeface="Object Sans" charset="1" panose="00000300000000000000"/>
      <p:regular r:id="rId20"/>
    </p:embeddedFont>
    <p:embeddedFont>
      <p:font typeface="Object Sans Bold" charset="1" panose="00000300000000000000"/>
      <p:regular r:id="rId21"/>
    </p:embeddedFont>
    <p:embeddedFont>
      <p:font typeface="Poppins" charset="1" panose="00000500000000000000"/>
      <p:regular r:id="rId22"/>
    </p:embeddedFont>
    <p:embeddedFont>
      <p:font typeface="Open Sans Bold" charset="1" panose="020B0806030504020204"/>
      <p:regular r:id="rId23"/>
    </p:embeddedFont>
    <p:embeddedFont>
      <p:font typeface="Open Sans" charset="1" panose="020B0606030504020204"/>
      <p:regular r:id="rId24"/>
    </p:embeddedFont>
    <p:embeddedFont>
      <p:font typeface="Arimo Bold" charset="1" panose="020B0704020202020204"/>
      <p:regular r:id="rId25"/>
    </p:embeddedFont>
    <p:embeddedFont>
      <p:font typeface="Arimo" charset="1" panose="020B0604020202020204"/>
      <p:regular r:id="rId2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fonts/font20.fntdata" Type="http://schemas.openxmlformats.org/officeDocument/2006/relationships/font"/><Relationship Id="rId21" Target="fonts/font21.fntdata" Type="http://schemas.openxmlformats.org/officeDocument/2006/relationships/font"/><Relationship Id="rId22" Target="fonts/font22.fntdata" Type="http://schemas.openxmlformats.org/officeDocument/2006/relationships/font"/><Relationship Id="rId23" Target="fonts/font23.fntdata" Type="http://schemas.openxmlformats.org/officeDocument/2006/relationships/font"/><Relationship Id="rId24" Target="fonts/font24.fntdata" Type="http://schemas.openxmlformats.org/officeDocument/2006/relationships/font"/><Relationship Id="rId25" Target="fonts/font25.fntdata" Type="http://schemas.openxmlformats.org/officeDocument/2006/relationships/font"/><Relationship Id="rId26" Target="fonts/font26.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png" Type="http://schemas.openxmlformats.org/officeDocument/2006/relationships/image"/><Relationship Id="rId4" Target="../media/image5.svg" Type="http://schemas.openxmlformats.org/officeDocument/2006/relationships/image"/><Relationship Id="rId5" Target="../media/image6.png" Type="http://schemas.openxmlformats.org/officeDocument/2006/relationships/image"/><Relationship Id="rId6" Target="../media/image7.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png" Type="http://schemas.openxmlformats.org/officeDocument/2006/relationships/image"/><Relationship Id="rId3" Target="../media/image9.png" Type="http://schemas.openxmlformats.org/officeDocument/2006/relationships/image"/><Relationship Id="rId4" Target="../media/image10.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2.png" Type="http://schemas.openxmlformats.org/officeDocument/2006/relationships/image"/><Relationship Id="rId3" Target="../media/image13.png" Type="http://schemas.openxmlformats.org/officeDocument/2006/relationships/image"/><Relationship Id="rId4" Target="../media/image14.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5.png" Type="http://schemas.openxmlformats.org/officeDocument/2006/relationships/image"/><Relationship Id="rId3" Target="../media/image16.png" Type="http://schemas.openxmlformats.org/officeDocument/2006/relationships/image"/><Relationship Id="rId4" Target="../media/image17.png" Type="http://schemas.openxmlformats.org/officeDocument/2006/relationships/image"/><Relationship Id="rId5" Target="../media/image18.png" Type="http://schemas.openxmlformats.org/officeDocument/2006/relationships/image"/><Relationship Id="rId6" Target="../media/image19.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0.png" Type="http://schemas.openxmlformats.org/officeDocument/2006/relationships/image"/><Relationship Id="rId3" Target="../media/image21.png" Type="http://schemas.openxmlformats.org/officeDocument/2006/relationships/image"/><Relationship Id="rId4" Target="../media/image22.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3.png" Type="http://schemas.openxmlformats.org/officeDocument/2006/relationships/image"/><Relationship Id="rId3" Target="../media/image24.png" Type="http://schemas.openxmlformats.org/officeDocument/2006/relationships/image"/><Relationship Id="rId4" Target="../media/image25.png" Type="http://schemas.openxmlformats.org/officeDocument/2006/relationships/image"/><Relationship Id="rId5" Target="../media/image26.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7.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8.png" Type="http://schemas.openxmlformats.org/officeDocument/2006/relationships/image"/><Relationship Id="rId3" Target="../media/image29.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slide1.xml><?xml version="1.0" encoding="utf-8"?>
<p:sld xmlns:p="http://schemas.openxmlformats.org/presentationml/2006/main" xmlns:a="http://schemas.openxmlformats.org/drawingml/2006/main">
  <p:cSld>
    <p:bg>
      <p:bgPr>
        <a:solidFill>
          <a:srgbClr val="F6F4F1"/>
        </a:solidFill>
      </p:bgPr>
    </p:bg>
    <p:spTree>
      <p:nvGrpSpPr>
        <p:cNvPr id="1" name=""/>
        <p:cNvGrpSpPr/>
        <p:nvPr/>
      </p:nvGrpSpPr>
      <p:grpSpPr>
        <a:xfrm>
          <a:off x="0" y="0"/>
          <a:ext cx="0" cy="0"/>
          <a:chOff x="0" y="0"/>
          <a:chExt cx="0" cy="0"/>
        </a:xfrm>
      </p:grpSpPr>
      <p:sp>
        <p:nvSpPr>
          <p:cNvPr name="TextBox 2" id="2"/>
          <p:cNvSpPr txBox="true"/>
          <p:nvPr/>
        </p:nvSpPr>
        <p:spPr>
          <a:xfrm rot="0">
            <a:off x="1252003" y="3222966"/>
            <a:ext cx="16042779" cy="1171027"/>
          </a:xfrm>
          <a:prstGeom prst="rect">
            <a:avLst/>
          </a:prstGeom>
        </p:spPr>
        <p:txBody>
          <a:bodyPr anchor="t" rtlCol="false" tIns="0" lIns="0" bIns="0" rIns="0">
            <a:spAutoFit/>
          </a:bodyPr>
          <a:lstStyle/>
          <a:p>
            <a:pPr algn="ctr">
              <a:lnSpc>
                <a:spcPts val="8050"/>
              </a:lnSpc>
            </a:pPr>
            <a:r>
              <a:rPr lang="en-US" sz="10455" spc="-836">
                <a:solidFill>
                  <a:srgbClr val="292B2D"/>
                </a:solidFill>
                <a:latin typeface="Object Sans"/>
                <a:ea typeface="Object Sans"/>
                <a:cs typeface="Object Sans"/>
                <a:sym typeface="Object Sans"/>
              </a:rPr>
              <a:t>DATA</a:t>
            </a:r>
          </a:p>
        </p:txBody>
      </p:sp>
      <p:sp>
        <p:nvSpPr>
          <p:cNvPr name="TextBox 3" id="3"/>
          <p:cNvSpPr txBox="true"/>
          <p:nvPr/>
        </p:nvSpPr>
        <p:spPr>
          <a:xfrm rot="0">
            <a:off x="1128805" y="4582880"/>
            <a:ext cx="16165977" cy="2017127"/>
          </a:xfrm>
          <a:prstGeom prst="rect">
            <a:avLst/>
          </a:prstGeom>
        </p:spPr>
        <p:txBody>
          <a:bodyPr anchor="t" rtlCol="false" tIns="0" lIns="0" bIns="0" rIns="0">
            <a:spAutoFit/>
          </a:bodyPr>
          <a:lstStyle/>
          <a:p>
            <a:pPr algn="ctr">
              <a:lnSpc>
                <a:spcPts val="13936"/>
              </a:lnSpc>
            </a:pPr>
            <a:r>
              <a:rPr lang="en-US" b="true" sz="18099">
                <a:solidFill>
                  <a:srgbClr val="292B2D"/>
                </a:solidFill>
                <a:latin typeface="Object Sans Bold"/>
                <a:ea typeface="Object Sans Bold"/>
                <a:cs typeface="Object Sans Bold"/>
                <a:sym typeface="Object Sans Bold"/>
              </a:rPr>
              <a:t>MODELLING</a:t>
            </a:r>
          </a:p>
        </p:txBody>
      </p:sp>
      <p:grpSp>
        <p:nvGrpSpPr>
          <p:cNvPr name="Group 4" id="4"/>
          <p:cNvGrpSpPr/>
          <p:nvPr/>
        </p:nvGrpSpPr>
        <p:grpSpPr>
          <a:xfrm rot="0">
            <a:off x="6261625" y="6768548"/>
            <a:ext cx="5900337" cy="2391100"/>
            <a:chOff x="0" y="0"/>
            <a:chExt cx="7867116" cy="3188133"/>
          </a:xfrm>
        </p:grpSpPr>
        <p:sp>
          <p:nvSpPr>
            <p:cNvPr name="TextBox 5" id="5"/>
            <p:cNvSpPr txBox="true"/>
            <p:nvPr/>
          </p:nvSpPr>
          <p:spPr>
            <a:xfrm rot="0">
              <a:off x="0" y="1632806"/>
              <a:ext cx="7867116" cy="1555327"/>
            </a:xfrm>
            <a:prstGeom prst="rect">
              <a:avLst/>
            </a:prstGeom>
          </p:spPr>
          <p:txBody>
            <a:bodyPr anchor="t" rtlCol="false" tIns="0" lIns="0" bIns="0" rIns="0">
              <a:spAutoFit/>
            </a:bodyPr>
            <a:lstStyle/>
            <a:p>
              <a:pPr algn="ctr">
                <a:lnSpc>
                  <a:spcPts val="2379"/>
                </a:lnSpc>
              </a:pPr>
              <a:r>
                <a:rPr lang="en-US" sz="1699">
                  <a:solidFill>
                    <a:srgbClr val="292B2D"/>
                  </a:solidFill>
                  <a:latin typeface="Object Sans"/>
                  <a:ea typeface="Object Sans"/>
                  <a:cs typeface="Object Sans"/>
                  <a:sym typeface="Object Sans"/>
                </a:rPr>
                <a:t>WIBISANA THEOMEN KASRIADY</a:t>
              </a:r>
            </a:p>
            <a:p>
              <a:pPr algn="ctr">
                <a:lnSpc>
                  <a:spcPts val="2379"/>
                </a:lnSpc>
              </a:pPr>
              <a:r>
                <a:rPr lang="en-US" sz="1699">
                  <a:solidFill>
                    <a:srgbClr val="292B2D"/>
                  </a:solidFill>
                  <a:latin typeface="Object Sans"/>
                  <a:ea typeface="Object Sans"/>
                  <a:cs typeface="Object Sans"/>
                  <a:sym typeface="Object Sans"/>
                </a:rPr>
                <a:t>ARYA PANNADANA</a:t>
              </a:r>
            </a:p>
            <a:p>
              <a:pPr algn="ctr">
                <a:lnSpc>
                  <a:spcPts val="2379"/>
                </a:lnSpc>
              </a:pPr>
              <a:r>
                <a:rPr lang="en-US" sz="1699">
                  <a:solidFill>
                    <a:srgbClr val="292B2D"/>
                  </a:solidFill>
                  <a:latin typeface="Object Sans"/>
                  <a:ea typeface="Object Sans"/>
                  <a:cs typeface="Object Sans"/>
                  <a:sym typeface="Object Sans"/>
                </a:rPr>
                <a:t>NIKKI TIRTA IWAN</a:t>
              </a:r>
            </a:p>
            <a:p>
              <a:pPr algn="ctr">
                <a:lnSpc>
                  <a:spcPts val="2379"/>
                </a:lnSpc>
              </a:pPr>
              <a:r>
                <a:rPr lang="en-US" sz="1699">
                  <a:solidFill>
                    <a:srgbClr val="292B2D"/>
                  </a:solidFill>
                  <a:latin typeface="Object Sans"/>
                  <a:ea typeface="Object Sans"/>
                  <a:cs typeface="Object Sans"/>
                  <a:sym typeface="Object Sans"/>
                </a:rPr>
                <a:t>ALEXANDER WILLIAM</a:t>
              </a:r>
            </a:p>
          </p:txBody>
        </p:sp>
        <p:sp>
          <p:nvSpPr>
            <p:cNvPr name="TextBox 6" id="6"/>
            <p:cNvSpPr txBox="true"/>
            <p:nvPr/>
          </p:nvSpPr>
          <p:spPr>
            <a:xfrm rot="0">
              <a:off x="0" y="1211452"/>
              <a:ext cx="7867116" cy="355600"/>
            </a:xfrm>
            <a:prstGeom prst="rect">
              <a:avLst/>
            </a:prstGeom>
          </p:spPr>
          <p:txBody>
            <a:bodyPr anchor="t" rtlCol="false" tIns="0" lIns="0" bIns="0" rIns="0">
              <a:spAutoFit/>
            </a:bodyPr>
            <a:lstStyle/>
            <a:p>
              <a:pPr algn="ctr">
                <a:lnSpc>
                  <a:spcPts val="2160"/>
                </a:lnSpc>
              </a:pPr>
              <a:r>
                <a:rPr lang="en-US" sz="1800" b="true">
                  <a:solidFill>
                    <a:srgbClr val="292B2D"/>
                  </a:solidFill>
                  <a:latin typeface="Object Sans Bold"/>
                  <a:ea typeface="Object Sans Bold"/>
                  <a:cs typeface="Object Sans Bold"/>
                  <a:sym typeface="Object Sans Bold"/>
                </a:rPr>
                <a:t>Presented By</a:t>
              </a:r>
            </a:p>
          </p:txBody>
        </p:sp>
        <p:sp>
          <p:nvSpPr>
            <p:cNvPr name="TextBox 7" id="7"/>
            <p:cNvSpPr txBox="true"/>
            <p:nvPr/>
          </p:nvSpPr>
          <p:spPr>
            <a:xfrm rot="0">
              <a:off x="0" y="-19050"/>
              <a:ext cx="7867116" cy="438150"/>
            </a:xfrm>
            <a:prstGeom prst="rect">
              <a:avLst/>
            </a:prstGeom>
          </p:spPr>
          <p:txBody>
            <a:bodyPr anchor="t" rtlCol="false" tIns="0" lIns="0" bIns="0" rIns="0">
              <a:spAutoFit/>
            </a:bodyPr>
            <a:lstStyle/>
            <a:p>
              <a:pPr algn="ctr">
                <a:lnSpc>
                  <a:spcPts val="2520"/>
                </a:lnSpc>
              </a:pPr>
              <a:r>
                <a:rPr lang="en-US" sz="2100" b="true">
                  <a:solidFill>
                    <a:srgbClr val="292B2D"/>
                  </a:solidFill>
                  <a:latin typeface="Object Sans Bold"/>
                  <a:ea typeface="Object Sans Bold"/>
                  <a:cs typeface="Object Sans Bold"/>
                  <a:sym typeface="Object Sans Bold"/>
                </a:rPr>
                <a:t>Digital Learning Analytics</a:t>
              </a:r>
            </a:p>
          </p:txBody>
        </p:sp>
      </p:grpSp>
      <p:sp>
        <p:nvSpPr>
          <p:cNvPr name="TextBox 8" id="8"/>
          <p:cNvSpPr txBox="true"/>
          <p:nvPr/>
        </p:nvSpPr>
        <p:spPr>
          <a:xfrm rot="0">
            <a:off x="6102339" y="918210"/>
            <a:ext cx="6083322" cy="335280"/>
          </a:xfrm>
          <a:prstGeom prst="rect">
            <a:avLst/>
          </a:prstGeom>
        </p:spPr>
        <p:txBody>
          <a:bodyPr anchor="t" rtlCol="false" tIns="0" lIns="0" bIns="0" rIns="0">
            <a:spAutoFit/>
          </a:bodyPr>
          <a:lstStyle/>
          <a:p>
            <a:pPr algn="ctr">
              <a:lnSpc>
                <a:spcPts val="2310"/>
              </a:lnSpc>
            </a:pPr>
            <a:r>
              <a:rPr lang="en-US" b="true" sz="3000" spc="-240">
                <a:solidFill>
                  <a:srgbClr val="292B2D"/>
                </a:solidFill>
                <a:latin typeface="Object Sans Bold"/>
                <a:ea typeface="Object Sans Bold"/>
                <a:cs typeface="Object Sans Bold"/>
                <a:sym typeface="Object Sans Bold"/>
              </a:rPr>
              <a:t>KELOMPOK 4</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F6F4F1"/>
        </a:solidFill>
      </p:bgPr>
    </p:bg>
    <p:spTree>
      <p:nvGrpSpPr>
        <p:cNvPr id="1" name=""/>
        <p:cNvGrpSpPr/>
        <p:nvPr/>
      </p:nvGrpSpPr>
      <p:grpSpPr>
        <a:xfrm>
          <a:off x="0" y="0"/>
          <a:ext cx="0" cy="0"/>
          <a:chOff x="0" y="0"/>
          <a:chExt cx="0" cy="0"/>
        </a:xfrm>
      </p:grpSpPr>
      <p:sp>
        <p:nvSpPr>
          <p:cNvPr name="Freeform 2" id="2"/>
          <p:cNvSpPr/>
          <p:nvPr/>
        </p:nvSpPr>
        <p:spPr>
          <a:xfrm flipH="false" flipV="false" rot="0">
            <a:off x="6589019" y="3000362"/>
            <a:ext cx="2357781" cy="2124950"/>
          </a:xfrm>
          <a:custGeom>
            <a:avLst/>
            <a:gdLst/>
            <a:ahLst/>
            <a:cxnLst/>
            <a:rect r="r" b="b" t="t" l="l"/>
            <a:pathLst>
              <a:path h="2124950" w="2357781">
                <a:moveTo>
                  <a:pt x="0" y="0"/>
                </a:moveTo>
                <a:lnTo>
                  <a:pt x="2357781" y="0"/>
                </a:lnTo>
                <a:lnTo>
                  <a:pt x="2357781" y="2124950"/>
                </a:lnTo>
                <a:lnTo>
                  <a:pt x="0" y="2124950"/>
                </a:lnTo>
                <a:lnTo>
                  <a:pt x="0" y="0"/>
                </a:lnTo>
                <a:close/>
              </a:path>
            </a:pathLst>
          </a:custGeom>
          <a:blipFill>
            <a:blip r:embed="rId2"/>
            <a:stretch>
              <a:fillRect l="0" t="0" r="0" b="0"/>
            </a:stretch>
          </a:blipFill>
          <a:ln cap="sq">
            <a:noFill/>
            <a:prstDash val="solid"/>
            <a:miter/>
          </a:ln>
        </p:spPr>
      </p:sp>
      <p:sp>
        <p:nvSpPr>
          <p:cNvPr name="AutoShape 3" id="3"/>
          <p:cNvSpPr/>
          <p:nvPr/>
        </p:nvSpPr>
        <p:spPr>
          <a:xfrm flipH="true">
            <a:off x="6169507" y="6195849"/>
            <a:ext cx="12118493" cy="0"/>
          </a:xfrm>
          <a:prstGeom prst="line">
            <a:avLst/>
          </a:prstGeom>
          <a:ln cap="flat" w="47625">
            <a:solidFill>
              <a:srgbClr val="000000"/>
            </a:solidFill>
            <a:prstDash val="solid"/>
            <a:headEnd type="none" len="sm" w="sm"/>
            <a:tailEnd type="none" len="sm" w="sm"/>
          </a:ln>
        </p:spPr>
      </p:sp>
      <p:grpSp>
        <p:nvGrpSpPr>
          <p:cNvPr name="Group 4" id="4"/>
          <p:cNvGrpSpPr/>
          <p:nvPr/>
        </p:nvGrpSpPr>
        <p:grpSpPr>
          <a:xfrm rot="0">
            <a:off x="441123" y="2004403"/>
            <a:ext cx="5482796" cy="5184993"/>
            <a:chOff x="0" y="0"/>
            <a:chExt cx="7310395" cy="6913324"/>
          </a:xfrm>
        </p:grpSpPr>
        <p:sp>
          <p:nvSpPr>
            <p:cNvPr name="Freeform 5" id="5"/>
            <p:cNvSpPr/>
            <p:nvPr/>
          </p:nvSpPr>
          <p:spPr>
            <a:xfrm flipH="false" flipV="false" rot="0">
              <a:off x="0" y="259551"/>
              <a:ext cx="7310395" cy="6653773"/>
            </a:xfrm>
            <a:custGeom>
              <a:avLst/>
              <a:gdLst/>
              <a:ahLst/>
              <a:cxnLst/>
              <a:rect r="r" b="b" t="t" l="l"/>
              <a:pathLst>
                <a:path h="6653773" w="7310395">
                  <a:moveTo>
                    <a:pt x="0" y="0"/>
                  </a:moveTo>
                  <a:lnTo>
                    <a:pt x="7310395" y="0"/>
                  </a:lnTo>
                  <a:lnTo>
                    <a:pt x="7310395" y="6653773"/>
                  </a:lnTo>
                  <a:lnTo>
                    <a:pt x="0" y="6653773"/>
                  </a:lnTo>
                  <a:lnTo>
                    <a:pt x="0" y="0"/>
                  </a:lnTo>
                  <a:close/>
                </a:path>
              </a:pathLst>
            </a:custGeom>
            <a:blipFill>
              <a:blip r:embed="rId3"/>
              <a:stretch>
                <a:fillRect l="0" t="0" r="0" b="0"/>
              </a:stretch>
            </a:blipFill>
          </p:spPr>
        </p:sp>
        <p:sp>
          <p:nvSpPr>
            <p:cNvPr name="TextBox 6" id="6"/>
            <p:cNvSpPr txBox="true"/>
            <p:nvPr/>
          </p:nvSpPr>
          <p:spPr>
            <a:xfrm rot="0">
              <a:off x="737496" y="-28575"/>
              <a:ext cx="5835403" cy="288126"/>
            </a:xfrm>
            <a:prstGeom prst="rect">
              <a:avLst/>
            </a:prstGeom>
          </p:spPr>
          <p:txBody>
            <a:bodyPr anchor="t" rtlCol="false" tIns="0" lIns="0" bIns="0" rIns="0">
              <a:spAutoFit/>
            </a:bodyPr>
            <a:lstStyle/>
            <a:p>
              <a:pPr algn="ctr">
                <a:lnSpc>
                  <a:spcPts val="1870"/>
                </a:lnSpc>
              </a:pPr>
              <a:r>
                <a:rPr lang="en-US" sz="1336" b="true">
                  <a:solidFill>
                    <a:srgbClr val="292B2D"/>
                  </a:solidFill>
                  <a:latin typeface="Object Sans Bold"/>
                  <a:ea typeface="Object Sans Bold"/>
                  <a:cs typeface="Object Sans Bold"/>
                  <a:sym typeface="Object Sans Bold"/>
                </a:rPr>
                <a:t>CRISP-DM</a:t>
              </a:r>
            </a:p>
          </p:txBody>
        </p:sp>
      </p:grpSp>
      <p:sp>
        <p:nvSpPr>
          <p:cNvPr name="TextBox 7" id="7"/>
          <p:cNvSpPr txBox="true"/>
          <p:nvPr/>
        </p:nvSpPr>
        <p:spPr>
          <a:xfrm rot="0">
            <a:off x="826126" y="1032795"/>
            <a:ext cx="15405148" cy="619183"/>
          </a:xfrm>
          <a:prstGeom prst="rect">
            <a:avLst/>
          </a:prstGeom>
        </p:spPr>
        <p:txBody>
          <a:bodyPr anchor="t" rtlCol="false" tIns="0" lIns="0" bIns="0" rIns="0">
            <a:spAutoFit/>
          </a:bodyPr>
          <a:lstStyle/>
          <a:p>
            <a:pPr algn="l">
              <a:lnSpc>
                <a:spcPts val="4499"/>
              </a:lnSpc>
            </a:pPr>
            <a:r>
              <a:rPr lang="en-US" b="true" sz="4999" spc="-249">
                <a:solidFill>
                  <a:srgbClr val="292B2D"/>
                </a:solidFill>
                <a:latin typeface="Object Sans Bold"/>
                <a:ea typeface="Object Sans Bold"/>
                <a:cs typeface="Object Sans Bold"/>
                <a:sym typeface="Object Sans Bold"/>
              </a:rPr>
              <a:t>DIGITAL LEARNING ANALYTICS</a:t>
            </a:r>
          </a:p>
        </p:txBody>
      </p:sp>
      <p:sp>
        <p:nvSpPr>
          <p:cNvPr name="TextBox 8" id="8"/>
          <p:cNvSpPr txBox="true"/>
          <p:nvPr/>
        </p:nvSpPr>
        <p:spPr>
          <a:xfrm rot="0">
            <a:off x="11879648" y="2206638"/>
            <a:ext cx="5379652" cy="860870"/>
          </a:xfrm>
          <a:prstGeom prst="rect">
            <a:avLst/>
          </a:prstGeom>
        </p:spPr>
        <p:txBody>
          <a:bodyPr anchor="t" rtlCol="false" tIns="0" lIns="0" bIns="0" rIns="0">
            <a:spAutoFit/>
          </a:bodyPr>
          <a:lstStyle/>
          <a:p>
            <a:pPr algn="just">
              <a:lnSpc>
                <a:spcPts val="2299"/>
              </a:lnSpc>
            </a:pPr>
            <a:r>
              <a:rPr lang="en-US" sz="1642">
                <a:solidFill>
                  <a:srgbClr val="292B2D"/>
                </a:solidFill>
                <a:latin typeface="Object Sans"/>
                <a:ea typeface="Object Sans"/>
                <a:cs typeface="Object Sans"/>
                <a:sym typeface="Object Sans"/>
              </a:rPr>
              <a:t>Tingkat pendaftaran kursus sangat tinggi, namun tingkat penyelesaiannya (course completion rate) sangat rendah.</a:t>
            </a:r>
          </a:p>
        </p:txBody>
      </p:sp>
      <p:sp>
        <p:nvSpPr>
          <p:cNvPr name="TextBox 9" id="9"/>
          <p:cNvSpPr txBox="true"/>
          <p:nvPr/>
        </p:nvSpPr>
        <p:spPr>
          <a:xfrm rot="0">
            <a:off x="9523557" y="2235213"/>
            <a:ext cx="2137116" cy="657225"/>
          </a:xfrm>
          <a:prstGeom prst="rect">
            <a:avLst/>
          </a:prstGeom>
        </p:spPr>
        <p:txBody>
          <a:bodyPr anchor="t" rtlCol="false" tIns="0" lIns="0" bIns="0" rIns="0">
            <a:spAutoFit/>
          </a:bodyPr>
          <a:lstStyle/>
          <a:p>
            <a:pPr algn="just">
              <a:lnSpc>
                <a:spcPts val="2593"/>
              </a:lnSpc>
            </a:pPr>
            <a:r>
              <a:rPr lang="en-US" sz="2160" b="true">
                <a:solidFill>
                  <a:srgbClr val="292B2D"/>
                </a:solidFill>
                <a:latin typeface="Object Sans Bold"/>
                <a:ea typeface="Object Sans Bold"/>
                <a:cs typeface="Object Sans Bold"/>
                <a:sym typeface="Object Sans Bold"/>
              </a:rPr>
              <a:t>Tantangan MOOC</a:t>
            </a:r>
          </a:p>
        </p:txBody>
      </p:sp>
      <p:sp>
        <p:nvSpPr>
          <p:cNvPr name="TextBox 10" id="10"/>
          <p:cNvSpPr txBox="true"/>
          <p:nvPr/>
        </p:nvSpPr>
        <p:spPr>
          <a:xfrm rot="0">
            <a:off x="11879648" y="3382548"/>
            <a:ext cx="5379652" cy="860870"/>
          </a:xfrm>
          <a:prstGeom prst="rect">
            <a:avLst/>
          </a:prstGeom>
        </p:spPr>
        <p:txBody>
          <a:bodyPr anchor="t" rtlCol="false" tIns="0" lIns="0" bIns="0" rIns="0">
            <a:spAutoFit/>
          </a:bodyPr>
          <a:lstStyle/>
          <a:p>
            <a:pPr algn="just">
              <a:lnSpc>
                <a:spcPts val="2299"/>
              </a:lnSpc>
            </a:pPr>
            <a:r>
              <a:rPr lang="en-US" sz="1642">
                <a:solidFill>
                  <a:srgbClr val="292B2D"/>
                </a:solidFill>
                <a:latin typeface="Object Sans"/>
                <a:ea typeface="Object Sans"/>
                <a:cs typeface="Object Sans"/>
                <a:sym typeface="Object Sans"/>
              </a:rPr>
              <a:t>Tingginya tingkat churn (pengguna berhenti di tengah jalan) menjadi masalah krusial bagi platform edukasi digital.</a:t>
            </a:r>
          </a:p>
        </p:txBody>
      </p:sp>
      <p:sp>
        <p:nvSpPr>
          <p:cNvPr name="TextBox 11" id="11"/>
          <p:cNvSpPr txBox="true"/>
          <p:nvPr/>
        </p:nvSpPr>
        <p:spPr>
          <a:xfrm rot="0">
            <a:off x="9523557" y="3411123"/>
            <a:ext cx="2137116" cy="651714"/>
          </a:xfrm>
          <a:prstGeom prst="rect">
            <a:avLst/>
          </a:prstGeom>
        </p:spPr>
        <p:txBody>
          <a:bodyPr anchor="t" rtlCol="false" tIns="0" lIns="0" bIns="0" rIns="0">
            <a:spAutoFit/>
          </a:bodyPr>
          <a:lstStyle/>
          <a:p>
            <a:pPr algn="l">
              <a:lnSpc>
                <a:spcPts val="2593"/>
              </a:lnSpc>
            </a:pPr>
            <a:r>
              <a:rPr lang="en-US" sz="2160" b="true">
                <a:solidFill>
                  <a:srgbClr val="292B2D"/>
                </a:solidFill>
                <a:latin typeface="Object Sans Bold"/>
                <a:ea typeface="Object Sans Bold"/>
                <a:cs typeface="Object Sans Bold"/>
                <a:sym typeface="Object Sans Bold"/>
              </a:rPr>
              <a:t>Fenomena Dropout</a:t>
            </a:r>
          </a:p>
        </p:txBody>
      </p:sp>
      <p:sp>
        <p:nvSpPr>
          <p:cNvPr name="TextBox 12" id="12"/>
          <p:cNvSpPr txBox="true"/>
          <p:nvPr/>
        </p:nvSpPr>
        <p:spPr>
          <a:xfrm rot="0">
            <a:off x="11879648" y="4847507"/>
            <a:ext cx="5379652" cy="860870"/>
          </a:xfrm>
          <a:prstGeom prst="rect">
            <a:avLst/>
          </a:prstGeom>
        </p:spPr>
        <p:txBody>
          <a:bodyPr anchor="t" rtlCol="false" tIns="0" lIns="0" bIns="0" rIns="0">
            <a:spAutoFit/>
          </a:bodyPr>
          <a:lstStyle/>
          <a:p>
            <a:pPr algn="just">
              <a:lnSpc>
                <a:spcPts val="2299"/>
              </a:lnSpc>
            </a:pPr>
            <a:r>
              <a:rPr lang="en-US" sz="1642">
                <a:solidFill>
                  <a:srgbClr val="292B2D"/>
                </a:solidFill>
                <a:latin typeface="Object Sans"/>
                <a:ea typeface="Object Sans"/>
                <a:cs typeface="Object Sans"/>
                <a:sym typeface="Object Sans"/>
              </a:rPr>
              <a:t>Pemahaman faktor dropout dan menemukan cara paling efektif agar siswa mendapatkan manfaat pembelajaran maksimal.</a:t>
            </a:r>
          </a:p>
        </p:txBody>
      </p:sp>
      <p:sp>
        <p:nvSpPr>
          <p:cNvPr name="TextBox 13" id="13"/>
          <p:cNvSpPr txBox="true"/>
          <p:nvPr/>
        </p:nvSpPr>
        <p:spPr>
          <a:xfrm rot="0">
            <a:off x="9523557" y="4876082"/>
            <a:ext cx="2137116" cy="651714"/>
          </a:xfrm>
          <a:prstGeom prst="rect">
            <a:avLst/>
          </a:prstGeom>
        </p:spPr>
        <p:txBody>
          <a:bodyPr anchor="t" rtlCol="false" tIns="0" lIns="0" bIns="0" rIns="0">
            <a:spAutoFit/>
          </a:bodyPr>
          <a:lstStyle/>
          <a:p>
            <a:pPr algn="l">
              <a:lnSpc>
                <a:spcPts val="2593"/>
              </a:lnSpc>
            </a:pPr>
            <a:r>
              <a:rPr lang="en-US" sz="2160" b="true">
                <a:solidFill>
                  <a:srgbClr val="292B2D"/>
                </a:solidFill>
                <a:latin typeface="Object Sans Bold"/>
                <a:ea typeface="Object Sans Bold"/>
                <a:cs typeface="Object Sans Bold"/>
                <a:sym typeface="Object Sans Bold"/>
              </a:rPr>
              <a:t>Solusi yang diharapkan</a:t>
            </a:r>
          </a:p>
        </p:txBody>
      </p:sp>
      <p:sp>
        <p:nvSpPr>
          <p:cNvPr name="TextBox 14" id="14"/>
          <p:cNvSpPr txBox="true"/>
          <p:nvPr/>
        </p:nvSpPr>
        <p:spPr>
          <a:xfrm rot="0">
            <a:off x="7349566" y="6352036"/>
            <a:ext cx="2871708" cy="398003"/>
          </a:xfrm>
          <a:prstGeom prst="rect">
            <a:avLst/>
          </a:prstGeom>
        </p:spPr>
        <p:txBody>
          <a:bodyPr anchor="t" rtlCol="false" tIns="0" lIns="0" bIns="0" rIns="0">
            <a:spAutoFit/>
          </a:bodyPr>
          <a:lstStyle/>
          <a:p>
            <a:pPr algn="l">
              <a:lnSpc>
                <a:spcPts val="3183"/>
              </a:lnSpc>
            </a:pPr>
            <a:r>
              <a:rPr lang="en-US" sz="2652" b="true">
                <a:solidFill>
                  <a:srgbClr val="292B2D"/>
                </a:solidFill>
                <a:latin typeface="Object Sans Bold"/>
                <a:ea typeface="Object Sans Bold"/>
                <a:cs typeface="Object Sans Bold"/>
                <a:sym typeface="Object Sans Bold"/>
              </a:rPr>
              <a:t>Pertanyaan</a:t>
            </a:r>
          </a:p>
        </p:txBody>
      </p:sp>
      <p:sp>
        <p:nvSpPr>
          <p:cNvPr name="TextBox 15" id="15"/>
          <p:cNvSpPr txBox="true"/>
          <p:nvPr/>
        </p:nvSpPr>
        <p:spPr>
          <a:xfrm rot="0">
            <a:off x="6589019" y="6797663"/>
            <a:ext cx="7402426" cy="3342941"/>
          </a:xfrm>
          <a:prstGeom prst="rect">
            <a:avLst/>
          </a:prstGeom>
        </p:spPr>
        <p:txBody>
          <a:bodyPr anchor="t" rtlCol="false" tIns="0" lIns="0" bIns="0" rIns="0">
            <a:spAutoFit/>
          </a:bodyPr>
          <a:lstStyle/>
          <a:p>
            <a:pPr algn="just" marL="407651" indent="-203826" lvl="1">
              <a:lnSpc>
                <a:spcPts val="2643"/>
              </a:lnSpc>
              <a:buAutoNum type="arabicPeriod" startAt="1"/>
            </a:pPr>
            <a:r>
              <a:rPr lang="en-US" sz="1888">
                <a:solidFill>
                  <a:srgbClr val="292B2D"/>
                </a:solidFill>
                <a:latin typeface="Poppins"/>
                <a:ea typeface="Poppins"/>
                <a:cs typeface="Poppins"/>
                <a:sym typeface="Poppins"/>
              </a:rPr>
              <a:t>Bagaimana peta distribusi volume pelajar dan performa kursus pada berbagai platform pembelajaran digital (MOOC)?</a:t>
            </a:r>
          </a:p>
          <a:p>
            <a:pPr algn="just" marL="407651" indent="-203826" lvl="1">
              <a:lnSpc>
                <a:spcPts val="2643"/>
              </a:lnSpc>
              <a:buAutoNum type="arabicPeriod" startAt="1"/>
            </a:pPr>
            <a:r>
              <a:rPr lang="en-US" sz="1888">
                <a:solidFill>
                  <a:srgbClr val="292B2D"/>
                </a:solidFill>
                <a:latin typeface="Poppins"/>
                <a:ea typeface="Poppins"/>
                <a:cs typeface="Poppins"/>
                <a:sym typeface="Poppins"/>
              </a:rPr>
              <a:t>Faktor-faktor interaksi dan demografi apa saja yang paling memengaruhi tingkat retensi serta memicu titik jenuh (churn/dropout) pelajar?</a:t>
            </a:r>
          </a:p>
          <a:p>
            <a:pPr algn="just" marL="407651" indent="-203826" lvl="1">
              <a:lnSpc>
                <a:spcPts val="2643"/>
              </a:lnSpc>
              <a:buAutoNum type="arabicPeriod" startAt="1"/>
            </a:pPr>
            <a:r>
              <a:rPr lang="en-US" sz="1888">
                <a:solidFill>
                  <a:srgbClr val="292B2D"/>
                </a:solidFill>
                <a:latin typeface="Poppins"/>
                <a:ea typeface="Poppins"/>
                <a:cs typeface="Poppins"/>
                <a:sym typeface="Poppins"/>
              </a:rPr>
              <a:t>Faktor apa saja yang paling memengaruhi peningkatan kompetensi siswa (Score Improvement), dan sejauh mana pendekatan algoritma regresi dapat memprediksi nilai tersebut?</a:t>
            </a:r>
          </a:p>
        </p:txBody>
      </p:sp>
      <p:sp>
        <p:nvSpPr>
          <p:cNvPr name="AutoShape 16" id="16"/>
          <p:cNvSpPr/>
          <p:nvPr/>
        </p:nvSpPr>
        <p:spPr>
          <a:xfrm flipV="true">
            <a:off x="14174547" y="6195849"/>
            <a:ext cx="0" cy="5656547"/>
          </a:xfrm>
          <a:prstGeom prst="line">
            <a:avLst/>
          </a:prstGeom>
          <a:ln cap="flat" w="47625">
            <a:solidFill>
              <a:srgbClr val="000000"/>
            </a:solidFill>
            <a:prstDash val="solid"/>
            <a:headEnd type="none" len="sm" w="sm"/>
            <a:tailEnd type="none" len="sm" w="sm"/>
          </a:ln>
        </p:spPr>
      </p:sp>
      <p:sp>
        <p:nvSpPr>
          <p:cNvPr name="TextBox 17" id="17"/>
          <p:cNvSpPr txBox="true"/>
          <p:nvPr/>
        </p:nvSpPr>
        <p:spPr>
          <a:xfrm rot="0">
            <a:off x="14174547" y="6880218"/>
            <a:ext cx="4113453" cy="1976155"/>
          </a:xfrm>
          <a:prstGeom prst="rect">
            <a:avLst/>
          </a:prstGeom>
        </p:spPr>
        <p:txBody>
          <a:bodyPr anchor="t" rtlCol="false" tIns="0" lIns="0" bIns="0" rIns="0">
            <a:spAutoFit/>
          </a:bodyPr>
          <a:lstStyle/>
          <a:p>
            <a:pPr algn="l" marL="407652" indent="-203826" lvl="1">
              <a:lnSpc>
                <a:spcPts val="2643"/>
              </a:lnSpc>
              <a:buAutoNum type="arabicPeriod" startAt="1"/>
            </a:pPr>
            <a:r>
              <a:rPr lang="en-US" sz="1888">
                <a:solidFill>
                  <a:srgbClr val="292B2D"/>
                </a:solidFill>
                <a:latin typeface="Poppins"/>
                <a:ea typeface="Poppins"/>
                <a:cs typeface="Poppins"/>
                <a:sym typeface="Poppins"/>
              </a:rPr>
              <a:t>Setiap analisis fokus pada MOOC</a:t>
            </a:r>
          </a:p>
          <a:p>
            <a:pPr algn="l" marL="407652" indent="-203826" lvl="1">
              <a:lnSpc>
                <a:spcPts val="2643"/>
              </a:lnSpc>
              <a:buAutoNum type="arabicPeriod" startAt="1"/>
            </a:pPr>
            <a:r>
              <a:rPr lang="en-US" sz="1888">
                <a:solidFill>
                  <a:srgbClr val="292B2D"/>
                </a:solidFill>
                <a:latin typeface="Poppins"/>
                <a:ea typeface="Poppins"/>
                <a:cs typeface="Poppins"/>
                <a:sym typeface="Poppins"/>
              </a:rPr>
              <a:t>Setiap Analisi berbasis Pattern</a:t>
            </a:r>
          </a:p>
          <a:p>
            <a:pPr algn="l" marL="407652" indent="-203826" lvl="1">
              <a:lnSpc>
                <a:spcPts val="2643"/>
              </a:lnSpc>
              <a:buAutoNum type="arabicPeriod" startAt="1"/>
            </a:pPr>
            <a:r>
              <a:rPr lang="en-US" sz="1888">
                <a:solidFill>
                  <a:srgbClr val="292B2D"/>
                </a:solidFill>
                <a:latin typeface="Poppins"/>
                <a:ea typeface="Poppins"/>
                <a:cs typeface="Poppins"/>
                <a:sym typeface="Poppins"/>
              </a:rPr>
              <a:t>Tidak melakukan penggabungan dengan data sekunder.</a:t>
            </a:r>
          </a:p>
        </p:txBody>
      </p:sp>
      <p:sp>
        <p:nvSpPr>
          <p:cNvPr name="TextBox 18" id="18"/>
          <p:cNvSpPr txBox="true"/>
          <p:nvPr/>
        </p:nvSpPr>
        <p:spPr>
          <a:xfrm rot="0">
            <a:off x="15453131" y="6352036"/>
            <a:ext cx="1961432" cy="398003"/>
          </a:xfrm>
          <a:prstGeom prst="rect">
            <a:avLst/>
          </a:prstGeom>
        </p:spPr>
        <p:txBody>
          <a:bodyPr anchor="t" rtlCol="false" tIns="0" lIns="0" bIns="0" rIns="0">
            <a:spAutoFit/>
          </a:bodyPr>
          <a:lstStyle/>
          <a:p>
            <a:pPr algn="l">
              <a:lnSpc>
                <a:spcPts val="3183"/>
              </a:lnSpc>
            </a:pPr>
            <a:r>
              <a:rPr lang="en-US" sz="2652" b="true">
                <a:solidFill>
                  <a:srgbClr val="292B2D"/>
                </a:solidFill>
                <a:latin typeface="Object Sans Bold"/>
                <a:ea typeface="Object Sans Bold"/>
                <a:cs typeface="Object Sans Bold"/>
                <a:sym typeface="Object Sans Bold"/>
              </a:rPr>
              <a:t>Perbatasan</a:t>
            </a:r>
          </a:p>
        </p:txBody>
      </p:sp>
      <p:sp>
        <p:nvSpPr>
          <p:cNvPr name="TextBox 19" id="19"/>
          <p:cNvSpPr txBox="true"/>
          <p:nvPr/>
        </p:nvSpPr>
        <p:spPr>
          <a:xfrm rot="0">
            <a:off x="544267" y="7511893"/>
            <a:ext cx="5379652" cy="1009495"/>
          </a:xfrm>
          <a:prstGeom prst="rect">
            <a:avLst/>
          </a:prstGeom>
        </p:spPr>
        <p:txBody>
          <a:bodyPr anchor="t" rtlCol="false" tIns="0" lIns="0" bIns="0" rIns="0">
            <a:spAutoFit/>
          </a:bodyPr>
          <a:lstStyle/>
          <a:p>
            <a:pPr algn="ctr">
              <a:lnSpc>
                <a:spcPts val="2643"/>
              </a:lnSpc>
            </a:pPr>
            <a:r>
              <a:rPr lang="en-US" sz="1888">
                <a:solidFill>
                  <a:srgbClr val="292B2D"/>
                </a:solidFill>
                <a:latin typeface="Poppins"/>
                <a:ea typeface="Poppins"/>
                <a:cs typeface="Poppins"/>
                <a:sym typeface="Poppins"/>
              </a:rPr>
              <a:t>Setiap Proses Proyek Analisi Data menggunakan CRISP-DM sebagai Metodologi dan arahan pengerjaan proyek</a:t>
            </a:r>
          </a:p>
        </p:txBody>
      </p:sp>
      <p:sp>
        <p:nvSpPr>
          <p:cNvPr name="AutoShape 20" id="20"/>
          <p:cNvSpPr/>
          <p:nvPr/>
        </p:nvSpPr>
        <p:spPr>
          <a:xfrm flipV="true">
            <a:off x="6169507" y="6195849"/>
            <a:ext cx="0" cy="5656547"/>
          </a:xfrm>
          <a:prstGeom prst="line">
            <a:avLst/>
          </a:prstGeom>
          <a:ln cap="flat" w="47625">
            <a:solidFill>
              <a:srgbClr val="000000"/>
            </a:solidFill>
            <a:prstDash val="solid"/>
            <a:headEnd type="none" len="sm" w="sm"/>
            <a:tailEnd type="none" len="sm" w="sm"/>
          </a:ln>
        </p:spPr>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F6F4F1"/>
        </a:solidFill>
      </p:bgPr>
    </p:bg>
    <p:spTree>
      <p:nvGrpSpPr>
        <p:cNvPr id="1" name=""/>
        <p:cNvGrpSpPr/>
        <p:nvPr/>
      </p:nvGrpSpPr>
      <p:grpSpPr>
        <a:xfrm>
          <a:off x="0" y="0"/>
          <a:ext cx="0" cy="0"/>
          <a:chOff x="0" y="0"/>
          <a:chExt cx="0" cy="0"/>
        </a:xfrm>
      </p:grpSpPr>
      <p:sp>
        <p:nvSpPr>
          <p:cNvPr name="Freeform 2" id="2"/>
          <p:cNvSpPr/>
          <p:nvPr/>
        </p:nvSpPr>
        <p:spPr>
          <a:xfrm flipH="false" flipV="false" rot="0">
            <a:off x="6882657" y="648572"/>
            <a:ext cx="1678878" cy="1376680"/>
          </a:xfrm>
          <a:custGeom>
            <a:avLst/>
            <a:gdLst/>
            <a:ahLst/>
            <a:cxnLst/>
            <a:rect r="r" b="b" t="t" l="l"/>
            <a:pathLst>
              <a:path h="1376680" w="1678878">
                <a:moveTo>
                  <a:pt x="0" y="0"/>
                </a:moveTo>
                <a:lnTo>
                  <a:pt x="1678878" y="0"/>
                </a:lnTo>
                <a:lnTo>
                  <a:pt x="1678878" y="1376680"/>
                </a:lnTo>
                <a:lnTo>
                  <a:pt x="0" y="1376680"/>
                </a:lnTo>
                <a:lnTo>
                  <a:pt x="0" y="0"/>
                </a:lnTo>
                <a:close/>
              </a:path>
            </a:pathLst>
          </a:custGeom>
          <a:blipFill>
            <a:blip r:embed="rId2"/>
            <a:stretch>
              <a:fillRect l="0" t="0" r="0" b="0"/>
            </a:stretch>
          </a:blipFill>
          <a:ln cap="sq">
            <a:noFill/>
            <a:prstDash val="solid"/>
            <a:miter/>
          </a:ln>
        </p:spPr>
      </p:sp>
      <p:sp>
        <p:nvSpPr>
          <p:cNvPr name="AutoShape 3" id="3"/>
          <p:cNvSpPr/>
          <p:nvPr/>
        </p:nvSpPr>
        <p:spPr>
          <a:xfrm flipV="true">
            <a:off x="0" y="3067562"/>
            <a:ext cx="18288000" cy="66"/>
          </a:xfrm>
          <a:prstGeom prst="line">
            <a:avLst/>
          </a:prstGeom>
          <a:ln cap="flat" w="38100">
            <a:solidFill>
              <a:srgbClr val="000000"/>
            </a:solidFill>
            <a:prstDash val="solid"/>
            <a:headEnd type="none" len="sm" w="sm"/>
            <a:tailEnd type="none" len="sm" w="sm"/>
          </a:ln>
        </p:spPr>
      </p:sp>
      <p:sp>
        <p:nvSpPr>
          <p:cNvPr name="Freeform 4" id="4"/>
          <p:cNvSpPr/>
          <p:nvPr/>
        </p:nvSpPr>
        <p:spPr>
          <a:xfrm flipH="false" flipV="false" rot="0">
            <a:off x="807605" y="3401195"/>
            <a:ext cx="1516572" cy="1516572"/>
          </a:xfrm>
          <a:custGeom>
            <a:avLst/>
            <a:gdLst/>
            <a:ahLst/>
            <a:cxnLst/>
            <a:rect r="r" b="b" t="t" l="l"/>
            <a:pathLst>
              <a:path h="1516572" w="1516572">
                <a:moveTo>
                  <a:pt x="0" y="0"/>
                </a:moveTo>
                <a:lnTo>
                  <a:pt x="1516572" y="0"/>
                </a:lnTo>
                <a:lnTo>
                  <a:pt x="1516572" y="1516573"/>
                </a:lnTo>
                <a:lnTo>
                  <a:pt x="0" y="1516573"/>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0">
            <a:off x="153383" y="5568169"/>
            <a:ext cx="5730388" cy="4633482"/>
          </a:xfrm>
          <a:custGeom>
            <a:avLst/>
            <a:gdLst/>
            <a:ahLst/>
            <a:cxnLst/>
            <a:rect r="r" b="b" t="t" l="l"/>
            <a:pathLst>
              <a:path h="4633482" w="5730388">
                <a:moveTo>
                  <a:pt x="0" y="0"/>
                </a:moveTo>
                <a:lnTo>
                  <a:pt x="5730388" y="0"/>
                </a:lnTo>
                <a:lnTo>
                  <a:pt x="5730388" y="4633482"/>
                </a:lnTo>
                <a:lnTo>
                  <a:pt x="0" y="4633482"/>
                </a:lnTo>
                <a:lnTo>
                  <a:pt x="0" y="0"/>
                </a:lnTo>
                <a:close/>
              </a:path>
            </a:pathLst>
          </a:custGeom>
          <a:blipFill>
            <a:blip r:embed="rId5"/>
            <a:stretch>
              <a:fillRect l="0" t="0" r="0" b="0"/>
            </a:stretch>
          </a:blipFill>
        </p:spPr>
      </p:sp>
      <p:sp>
        <p:nvSpPr>
          <p:cNvPr name="Freeform 6" id="6"/>
          <p:cNvSpPr/>
          <p:nvPr/>
        </p:nvSpPr>
        <p:spPr>
          <a:xfrm flipH="false" flipV="false" rot="0">
            <a:off x="6882657" y="5629544"/>
            <a:ext cx="5346429" cy="4657456"/>
          </a:xfrm>
          <a:custGeom>
            <a:avLst/>
            <a:gdLst/>
            <a:ahLst/>
            <a:cxnLst/>
            <a:rect r="r" b="b" t="t" l="l"/>
            <a:pathLst>
              <a:path h="4657456" w="5346429">
                <a:moveTo>
                  <a:pt x="0" y="0"/>
                </a:moveTo>
                <a:lnTo>
                  <a:pt x="5346429" y="0"/>
                </a:lnTo>
                <a:lnTo>
                  <a:pt x="5346429" y="4657456"/>
                </a:lnTo>
                <a:lnTo>
                  <a:pt x="0" y="4657456"/>
                </a:lnTo>
                <a:lnTo>
                  <a:pt x="0" y="0"/>
                </a:lnTo>
                <a:close/>
              </a:path>
            </a:pathLst>
          </a:custGeom>
          <a:blipFill>
            <a:blip r:embed="rId6"/>
            <a:stretch>
              <a:fillRect l="0" t="0" r="0" b="0"/>
            </a:stretch>
          </a:blipFill>
        </p:spPr>
      </p:sp>
      <p:sp>
        <p:nvSpPr>
          <p:cNvPr name="AutoShape 7" id="7"/>
          <p:cNvSpPr/>
          <p:nvPr/>
        </p:nvSpPr>
        <p:spPr>
          <a:xfrm>
            <a:off x="6664293" y="5225281"/>
            <a:ext cx="0" cy="5042681"/>
          </a:xfrm>
          <a:prstGeom prst="line">
            <a:avLst/>
          </a:prstGeom>
          <a:ln cap="flat" w="38100">
            <a:solidFill>
              <a:srgbClr val="000000"/>
            </a:solidFill>
            <a:prstDash val="solid"/>
            <a:headEnd type="none" len="sm" w="sm"/>
            <a:tailEnd type="none" len="sm" w="sm"/>
          </a:ln>
        </p:spPr>
      </p:sp>
      <p:sp>
        <p:nvSpPr>
          <p:cNvPr name="AutoShape 8" id="8"/>
          <p:cNvSpPr/>
          <p:nvPr/>
        </p:nvSpPr>
        <p:spPr>
          <a:xfrm flipH="true">
            <a:off x="14903213" y="3067628"/>
            <a:ext cx="19050" cy="7219372"/>
          </a:xfrm>
          <a:prstGeom prst="line">
            <a:avLst/>
          </a:prstGeom>
          <a:ln cap="flat" w="38100">
            <a:solidFill>
              <a:srgbClr val="000000"/>
            </a:solidFill>
            <a:prstDash val="solid"/>
            <a:headEnd type="none" len="sm" w="sm"/>
            <a:tailEnd type="none" len="sm" w="sm"/>
          </a:ln>
        </p:spPr>
      </p:sp>
      <p:sp>
        <p:nvSpPr>
          <p:cNvPr name="AutoShape 9" id="9"/>
          <p:cNvSpPr/>
          <p:nvPr/>
        </p:nvSpPr>
        <p:spPr>
          <a:xfrm flipH="true">
            <a:off x="14903213" y="5243955"/>
            <a:ext cx="3384787" cy="0"/>
          </a:xfrm>
          <a:prstGeom prst="line">
            <a:avLst/>
          </a:prstGeom>
          <a:ln cap="flat" w="38100">
            <a:solidFill>
              <a:srgbClr val="000000"/>
            </a:solidFill>
            <a:prstDash val="solid"/>
            <a:headEnd type="none" len="sm" w="sm"/>
            <a:tailEnd type="none" len="sm" w="sm"/>
          </a:ln>
        </p:spPr>
      </p:sp>
      <p:sp>
        <p:nvSpPr>
          <p:cNvPr name="TextBox 10" id="10"/>
          <p:cNvSpPr txBox="true"/>
          <p:nvPr/>
        </p:nvSpPr>
        <p:spPr>
          <a:xfrm rot="0">
            <a:off x="489791" y="894973"/>
            <a:ext cx="5688015" cy="1441752"/>
          </a:xfrm>
          <a:prstGeom prst="rect">
            <a:avLst/>
          </a:prstGeom>
        </p:spPr>
        <p:txBody>
          <a:bodyPr anchor="t" rtlCol="false" tIns="0" lIns="0" bIns="0" rIns="0">
            <a:spAutoFit/>
          </a:bodyPr>
          <a:lstStyle/>
          <a:p>
            <a:pPr algn="ctr">
              <a:lnSpc>
                <a:spcPts val="3686"/>
              </a:lnSpc>
            </a:pPr>
            <a:r>
              <a:rPr lang="en-US" b="true" sz="4095" spc="-204">
                <a:solidFill>
                  <a:srgbClr val="292B2D"/>
                </a:solidFill>
                <a:latin typeface="Object Sans Bold"/>
                <a:ea typeface="Object Sans Bold"/>
                <a:cs typeface="Object Sans Bold"/>
                <a:sym typeface="Object Sans Bold"/>
              </a:rPr>
              <a:t>DESKRIPSI DATASET &amp;</a:t>
            </a:r>
          </a:p>
          <a:p>
            <a:pPr algn="ctr">
              <a:lnSpc>
                <a:spcPts val="3686"/>
              </a:lnSpc>
            </a:pPr>
            <a:r>
              <a:rPr lang="en-US" b="true" sz="4095" spc="-204">
                <a:solidFill>
                  <a:srgbClr val="292B2D"/>
                </a:solidFill>
                <a:latin typeface="Object Sans Bold"/>
                <a:ea typeface="Object Sans Bold"/>
                <a:cs typeface="Object Sans Bold"/>
                <a:sym typeface="Object Sans Bold"/>
              </a:rPr>
              <a:t>PRE-PROCESS</a:t>
            </a:r>
          </a:p>
        </p:txBody>
      </p:sp>
      <p:sp>
        <p:nvSpPr>
          <p:cNvPr name="TextBox 11" id="11"/>
          <p:cNvSpPr txBox="true"/>
          <p:nvPr/>
        </p:nvSpPr>
        <p:spPr>
          <a:xfrm rot="0">
            <a:off x="11483183" y="853849"/>
            <a:ext cx="6223733" cy="332740"/>
          </a:xfrm>
          <a:prstGeom prst="rect">
            <a:avLst/>
          </a:prstGeom>
        </p:spPr>
        <p:txBody>
          <a:bodyPr anchor="t" rtlCol="false" tIns="0" lIns="0" bIns="0" rIns="0">
            <a:spAutoFit/>
          </a:bodyPr>
          <a:lstStyle/>
          <a:p>
            <a:pPr algn="just">
              <a:lnSpc>
                <a:spcPts val="2659"/>
              </a:lnSpc>
            </a:pPr>
            <a:r>
              <a:rPr lang="en-US" sz="1899">
                <a:solidFill>
                  <a:srgbClr val="292B2D"/>
                </a:solidFill>
                <a:latin typeface="Object Sans"/>
                <a:ea typeface="Object Sans"/>
                <a:cs typeface="Object Sans"/>
                <a:sym typeface="Object Sans"/>
              </a:rPr>
              <a:t>Kaggle</a:t>
            </a:r>
          </a:p>
        </p:txBody>
      </p:sp>
      <p:sp>
        <p:nvSpPr>
          <p:cNvPr name="TextBox 12" id="12"/>
          <p:cNvSpPr txBox="true"/>
          <p:nvPr/>
        </p:nvSpPr>
        <p:spPr>
          <a:xfrm rot="0">
            <a:off x="8732921" y="891949"/>
            <a:ext cx="2472435" cy="381000"/>
          </a:xfrm>
          <a:prstGeom prst="rect">
            <a:avLst/>
          </a:prstGeom>
        </p:spPr>
        <p:txBody>
          <a:bodyPr anchor="t" rtlCol="false" tIns="0" lIns="0" bIns="0" rIns="0">
            <a:spAutoFit/>
          </a:bodyPr>
          <a:lstStyle/>
          <a:p>
            <a:pPr algn="l">
              <a:lnSpc>
                <a:spcPts val="2999"/>
              </a:lnSpc>
            </a:pPr>
            <a:r>
              <a:rPr lang="en-US" sz="2499" b="true">
                <a:solidFill>
                  <a:srgbClr val="292B2D"/>
                </a:solidFill>
                <a:latin typeface="Object Sans Bold"/>
                <a:ea typeface="Object Sans Bold"/>
                <a:cs typeface="Object Sans Bold"/>
                <a:sym typeface="Object Sans Bold"/>
              </a:rPr>
              <a:t>Sumber data</a:t>
            </a:r>
          </a:p>
        </p:txBody>
      </p:sp>
      <p:sp>
        <p:nvSpPr>
          <p:cNvPr name="TextBox 13" id="13"/>
          <p:cNvSpPr txBox="true"/>
          <p:nvPr/>
        </p:nvSpPr>
        <p:spPr>
          <a:xfrm rot="0">
            <a:off x="11453243" y="1511074"/>
            <a:ext cx="6223733" cy="332740"/>
          </a:xfrm>
          <a:prstGeom prst="rect">
            <a:avLst/>
          </a:prstGeom>
        </p:spPr>
        <p:txBody>
          <a:bodyPr anchor="t" rtlCol="false" tIns="0" lIns="0" bIns="0" rIns="0">
            <a:spAutoFit/>
          </a:bodyPr>
          <a:lstStyle/>
          <a:p>
            <a:pPr algn="just">
              <a:lnSpc>
                <a:spcPts val="2659"/>
              </a:lnSpc>
            </a:pPr>
            <a:r>
              <a:rPr lang="en-US" sz="1899">
                <a:solidFill>
                  <a:srgbClr val="292B2D"/>
                </a:solidFill>
                <a:latin typeface="Object Sans"/>
                <a:ea typeface="Object Sans"/>
                <a:cs typeface="Object Sans"/>
                <a:sym typeface="Object Sans"/>
              </a:rPr>
              <a:t>100.000 baris data pelajar dan 43 kolom</a:t>
            </a:r>
          </a:p>
        </p:txBody>
      </p:sp>
      <p:sp>
        <p:nvSpPr>
          <p:cNvPr name="TextBox 14" id="14"/>
          <p:cNvSpPr txBox="true"/>
          <p:nvPr/>
        </p:nvSpPr>
        <p:spPr>
          <a:xfrm rot="0">
            <a:off x="8727476" y="1549174"/>
            <a:ext cx="2472435" cy="381000"/>
          </a:xfrm>
          <a:prstGeom prst="rect">
            <a:avLst/>
          </a:prstGeom>
        </p:spPr>
        <p:txBody>
          <a:bodyPr anchor="t" rtlCol="false" tIns="0" lIns="0" bIns="0" rIns="0">
            <a:spAutoFit/>
          </a:bodyPr>
          <a:lstStyle/>
          <a:p>
            <a:pPr algn="l">
              <a:lnSpc>
                <a:spcPts val="2999"/>
              </a:lnSpc>
            </a:pPr>
            <a:r>
              <a:rPr lang="en-US" sz="2499" b="true">
                <a:solidFill>
                  <a:srgbClr val="292B2D"/>
                </a:solidFill>
                <a:latin typeface="Object Sans Bold"/>
                <a:ea typeface="Object Sans Bold"/>
                <a:cs typeface="Object Sans Bold"/>
                <a:sym typeface="Object Sans Bold"/>
              </a:rPr>
              <a:t>Dimensi</a:t>
            </a:r>
          </a:p>
        </p:txBody>
      </p:sp>
      <p:sp>
        <p:nvSpPr>
          <p:cNvPr name="TextBox 15" id="15"/>
          <p:cNvSpPr txBox="true"/>
          <p:nvPr/>
        </p:nvSpPr>
        <p:spPr>
          <a:xfrm rot="0">
            <a:off x="11458688" y="2168299"/>
            <a:ext cx="6478945" cy="666115"/>
          </a:xfrm>
          <a:prstGeom prst="rect">
            <a:avLst/>
          </a:prstGeom>
        </p:spPr>
        <p:txBody>
          <a:bodyPr anchor="t" rtlCol="false" tIns="0" lIns="0" bIns="0" rIns="0">
            <a:spAutoFit/>
          </a:bodyPr>
          <a:lstStyle/>
          <a:p>
            <a:pPr algn="just">
              <a:lnSpc>
                <a:spcPts val="2659"/>
              </a:lnSpc>
            </a:pPr>
            <a:r>
              <a:rPr lang="en-US" sz="1899">
                <a:solidFill>
                  <a:srgbClr val="292B2D"/>
                </a:solidFill>
                <a:latin typeface="Object Sans"/>
                <a:ea typeface="Object Sans"/>
                <a:cs typeface="Object Sans"/>
                <a:sym typeface="Object Sans"/>
              </a:rPr>
              <a:t>Interaksi aplikasi, metrik skor (penilaian manusia &amp; AI), tingkat remediasi, dan efisiensi belajar.</a:t>
            </a:r>
          </a:p>
        </p:txBody>
      </p:sp>
      <p:sp>
        <p:nvSpPr>
          <p:cNvPr name="TextBox 16" id="16"/>
          <p:cNvSpPr txBox="true"/>
          <p:nvPr/>
        </p:nvSpPr>
        <p:spPr>
          <a:xfrm rot="0">
            <a:off x="8732921" y="2206399"/>
            <a:ext cx="2472435" cy="381000"/>
          </a:xfrm>
          <a:prstGeom prst="rect">
            <a:avLst/>
          </a:prstGeom>
        </p:spPr>
        <p:txBody>
          <a:bodyPr anchor="t" rtlCol="false" tIns="0" lIns="0" bIns="0" rIns="0">
            <a:spAutoFit/>
          </a:bodyPr>
          <a:lstStyle/>
          <a:p>
            <a:pPr algn="l">
              <a:lnSpc>
                <a:spcPts val="2999"/>
              </a:lnSpc>
            </a:pPr>
            <a:r>
              <a:rPr lang="en-US" sz="2499" b="true">
                <a:solidFill>
                  <a:srgbClr val="292B2D"/>
                </a:solidFill>
                <a:latin typeface="Object Sans Bold"/>
                <a:ea typeface="Object Sans Bold"/>
                <a:cs typeface="Object Sans Bold"/>
                <a:sym typeface="Object Sans Bold"/>
              </a:rPr>
              <a:t>Fitur utama</a:t>
            </a:r>
          </a:p>
        </p:txBody>
      </p:sp>
      <p:sp>
        <p:nvSpPr>
          <p:cNvPr name="TextBox 17" id="17"/>
          <p:cNvSpPr txBox="true"/>
          <p:nvPr/>
        </p:nvSpPr>
        <p:spPr>
          <a:xfrm rot="0">
            <a:off x="11477738" y="193339"/>
            <a:ext cx="6223733" cy="332740"/>
          </a:xfrm>
          <a:prstGeom prst="rect">
            <a:avLst/>
          </a:prstGeom>
        </p:spPr>
        <p:txBody>
          <a:bodyPr anchor="t" rtlCol="false" tIns="0" lIns="0" bIns="0" rIns="0">
            <a:spAutoFit/>
          </a:bodyPr>
          <a:lstStyle/>
          <a:p>
            <a:pPr algn="just">
              <a:lnSpc>
                <a:spcPts val="2659"/>
              </a:lnSpc>
            </a:pPr>
            <a:r>
              <a:rPr lang="en-US" sz="1899">
                <a:solidFill>
                  <a:srgbClr val="292B2D"/>
                </a:solidFill>
                <a:latin typeface="Object Sans"/>
                <a:ea typeface="Object Sans"/>
                <a:cs typeface="Object Sans"/>
                <a:sym typeface="Object Sans"/>
              </a:rPr>
              <a:t>Digital learning Analytics</a:t>
            </a:r>
          </a:p>
        </p:txBody>
      </p:sp>
      <p:sp>
        <p:nvSpPr>
          <p:cNvPr name="TextBox 18" id="18"/>
          <p:cNvSpPr txBox="true"/>
          <p:nvPr/>
        </p:nvSpPr>
        <p:spPr>
          <a:xfrm rot="0">
            <a:off x="8727476" y="231439"/>
            <a:ext cx="2472435" cy="381000"/>
          </a:xfrm>
          <a:prstGeom prst="rect">
            <a:avLst/>
          </a:prstGeom>
        </p:spPr>
        <p:txBody>
          <a:bodyPr anchor="t" rtlCol="false" tIns="0" lIns="0" bIns="0" rIns="0">
            <a:spAutoFit/>
          </a:bodyPr>
          <a:lstStyle/>
          <a:p>
            <a:pPr algn="l">
              <a:lnSpc>
                <a:spcPts val="2999"/>
              </a:lnSpc>
            </a:pPr>
            <a:r>
              <a:rPr lang="en-US" sz="2499" b="true">
                <a:solidFill>
                  <a:srgbClr val="292B2D"/>
                </a:solidFill>
                <a:latin typeface="Object Sans Bold"/>
                <a:ea typeface="Object Sans Bold"/>
                <a:cs typeface="Object Sans Bold"/>
                <a:sym typeface="Object Sans Bold"/>
              </a:rPr>
              <a:t>Name Dataset</a:t>
            </a:r>
          </a:p>
        </p:txBody>
      </p:sp>
      <p:sp>
        <p:nvSpPr>
          <p:cNvPr name="TextBox 19" id="19"/>
          <p:cNvSpPr txBox="true"/>
          <p:nvPr/>
        </p:nvSpPr>
        <p:spPr>
          <a:xfrm rot="0">
            <a:off x="6071372" y="3367696"/>
            <a:ext cx="3756744" cy="1333202"/>
          </a:xfrm>
          <a:prstGeom prst="rect">
            <a:avLst/>
          </a:prstGeom>
        </p:spPr>
        <p:txBody>
          <a:bodyPr anchor="t" rtlCol="false" tIns="0" lIns="0" bIns="0" rIns="0">
            <a:spAutoFit/>
          </a:bodyPr>
          <a:lstStyle/>
          <a:p>
            <a:pPr algn="l" marL="323850" indent="-161925" lvl="1">
              <a:lnSpc>
                <a:spcPts val="2100"/>
              </a:lnSpc>
              <a:buFont typeface="Arial"/>
              <a:buChar char="•"/>
            </a:pPr>
            <a:r>
              <a:rPr lang="en-US" sz="1500">
                <a:solidFill>
                  <a:srgbClr val="292B2D"/>
                </a:solidFill>
                <a:latin typeface="Object Sans"/>
                <a:ea typeface="Object Sans"/>
                <a:cs typeface="Object Sans"/>
                <a:sym typeface="Object Sans"/>
              </a:rPr>
              <a:t>gamification_engagement</a:t>
            </a:r>
          </a:p>
          <a:p>
            <a:pPr algn="l" marL="323850" indent="-161925" lvl="1">
              <a:lnSpc>
                <a:spcPts val="2100"/>
              </a:lnSpc>
              <a:buFont typeface="Arial"/>
              <a:buChar char="•"/>
            </a:pPr>
            <a:r>
              <a:rPr lang="en-US" sz="1500">
                <a:solidFill>
                  <a:srgbClr val="292B2D"/>
                </a:solidFill>
                <a:latin typeface="Object Sans"/>
                <a:ea typeface="Object Sans"/>
                <a:cs typeface="Object Sans"/>
                <a:sym typeface="Object Sans"/>
              </a:rPr>
              <a:t>essay_vocabulary_richness</a:t>
            </a:r>
          </a:p>
          <a:p>
            <a:pPr algn="l" marL="323850" indent="-161925" lvl="1">
              <a:lnSpc>
                <a:spcPts val="2100"/>
              </a:lnSpc>
              <a:buFont typeface="Arial"/>
              <a:buChar char="•"/>
            </a:pPr>
            <a:r>
              <a:rPr lang="en-US" sz="1500">
                <a:solidFill>
                  <a:srgbClr val="292B2D"/>
                </a:solidFill>
                <a:latin typeface="Object Sans"/>
                <a:ea typeface="Object Sans"/>
                <a:cs typeface="Object Sans"/>
                <a:sym typeface="Object Sans"/>
              </a:rPr>
              <a:t>essay_coherence_score</a:t>
            </a:r>
          </a:p>
          <a:p>
            <a:pPr algn="l" marL="323850" indent="-161925" lvl="1">
              <a:lnSpc>
                <a:spcPts val="2100"/>
              </a:lnSpc>
              <a:buFont typeface="Arial"/>
              <a:buChar char="•"/>
            </a:pPr>
            <a:r>
              <a:rPr lang="en-US" sz="1500">
                <a:solidFill>
                  <a:srgbClr val="292B2D"/>
                </a:solidFill>
                <a:latin typeface="Object Sans"/>
                <a:ea typeface="Object Sans"/>
                <a:cs typeface="Object Sans"/>
                <a:sym typeface="Object Sans"/>
              </a:rPr>
              <a:t>forum_post</a:t>
            </a:r>
          </a:p>
          <a:p>
            <a:pPr algn="l" marL="323850" indent="-161925" lvl="1">
              <a:lnSpc>
                <a:spcPts val="2100"/>
              </a:lnSpc>
              <a:buFont typeface="Arial"/>
              <a:buChar char="•"/>
            </a:pPr>
            <a:r>
              <a:rPr lang="en-US" sz="1500">
                <a:solidFill>
                  <a:srgbClr val="292B2D"/>
                </a:solidFill>
                <a:latin typeface="Object Sans"/>
                <a:ea typeface="Object Sans"/>
                <a:cs typeface="Object Sans"/>
                <a:sym typeface="Object Sans"/>
              </a:rPr>
              <a:t>peer_review_given</a:t>
            </a:r>
          </a:p>
        </p:txBody>
      </p:sp>
      <p:sp>
        <p:nvSpPr>
          <p:cNvPr name="TextBox 20" id="20"/>
          <p:cNvSpPr txBox="true"/>
          <p:nvPr/>
        </p:nvSpPr>
        <p:spPr>
          <a:xfrm rot="0">
            <a:off x="2771711" y="3858084"/>
            <a:ext cx="2472435" cy="381000"/>
          </a:xfrm>
          <a:prstGeom prst="rect">
            <a:avLst/>
          </a:prstGeom>
        </p:spPr>
        <p:txBody>
          <a:bodyPr anchor="t" rtlCol="false" tIns="0" lIns="0" bIns="0" rIns="0">
            <a:spAutoFit/>
          </a:bodyPr>
          <a:lstStyle/>
          <a:p>
            <a:pPr algn="ctr">
              <a:lnSpc>
                <a:spcPts val="2999"/>
              </a:lnSpc>
            </a:pPr>
            <a:r>
              <a:rPr lang="en-US" sz="2499" b="true">
                <a:solidFill>
                  <a:srgbClr val="292B2D"/>
                </a:solidFill>
                <a:latin typeface="Object Sans Bold"/>
                <a:ea typeface="Object Sans Bold"/>
                <a:cs typeface="Object Sans Bold"/>
                <a:sym typeface="Object Sans Bold"/>
              </a:rPr>
              <a:t>Missing Data</a:t>
            </a:r>
          </a:p>
        </p:txBody>
      </p:sp>
      <p:sp>
        <p:nvSpPr>
          <p:cNvPr name="TextBox 21" id="21"/>
          <p:cNvSpPr txBox="true"/>
          <p:nvPr/>
        </p:nvSpPr>
        <p:spPr>
          <a:xfrm rot="0">
            <a:off x="10142440" y="3367696"/>
            <a:ext cx="4422669" cy="533281"/>
          </a:xfrm>
          <a:prstGeom prst="rect">
            <a:avLst/>
          </a:prstGeom>
        </p:spPr>
        <p:txBody>
          <a:bodyPr anchor="t" rtlCol="false" tIns="0" lIns="0" bIns="0" rIns="0">
            <a:spAutoFit/>
          </a:bodyPr>
          <a:lstStyle/>
          <a:p>
            <a:pPr algn="l" marL="323850" indent="-161925" lvl="1">
              <a:lnSpc>
                <a:spcPts val="2100"/>
              </a:lnSpc>
              <a:buFont typeface="Arial"/>
              <a:buChar char="•"/>
            </a:pPr>
            <a:r>
              <a:rPr lang="en-US" sz="1500">
                <a:solidFill>
                  <a:srgbClr val="292B2D"/>
                </a:solidFill>
                <a:latin typeface="Object Sans"/>
                <a:ea typeface="Object Sans"/>
                <a:cs typeface="Object Sans"/>
                <a:sym typeface="Object Sans"/>
              </a:rPr>
              <a:t>content_recommendation_followed</a:t>
            </a:r>
          </a:p>
          <a:p>
            <a:pPr algn="l" marL="323850" indent="-161925" lvl="1">
              <a:lnSpc>
                <a:spcPts val="2100"/>
              </a:lnSpc>
              <a:buFont typeface="Arial"/>
              <a:buChar char="•"/>
            </a:pPr>
            <a:r>
              <a:rPr lang="en-US" sz="1500">
                <a:solidFill>
                  <a:srgbClr val="292B2D"/>
                </a:solidFill>
                <a:latin typeface="Object Sans"/>
                <a:ea typeface="Object Sans"/>
                <a:cs typeface="Object Sans"/>
                <a:sym typeface="Object Sans"/>
              </a:rPr>
              <a:t>learning_efficiency_score</a:t>
            </a:r>
          </a:p>
        </p:txBody>
      </p:sp>
      <p:sp>
        <p:nvSpPr>
          <p:cNvPr name="TextBox 22" id="22"/>
          <p:cNvSpPr txBox="true"/>
          <p:nvPr/>
        </p:nvSpPr>
        <p:spPr>
          <a:xfrm rot="0">
            <a:off x="15136912" y="3720253"/>
            <a:ext cx="3058820" cy="1333500"/>
          </a:xfrm>
          <a:prstGeom prst="rect">
            <a:avLst/>
          </a:prstGeom>
        </p:spPr>
        <p:txBody>
          <a:bodyPr anchor="t" rtlCol="false" tIns="0" lIns="0" bIns="0" rIns="0">
            <a:spAutoFit/>
          </a:bodyPr>
          <a:lstStyle/>
          <a:p>
            <a:pPr algn="just" marL="323850" indent="-161925" lvl="1">
              <a:lnSpc>
                <a:spcPts val="2100"/>
              </a:lnSpc>
              <a:buFont typeface="Arial"/>
              <a:buChar char="•"/>
            </a:pPr>
            <a:r>
              <a:rPr lang="en-US" sz="1500">
                <a:solidFill>
                  <a:srgbClr val="292B2D"/>
                </a:solidFill>
                <a:latin typeface="Object Sans"/>
                <a:ea typeface="Object Sans"/>
                <a:cs typeface="Object Sans"/>
                <a:sym typeface="Object Sans"/>
              </a:rPr>
              <a:t>Z-Score: Data that normally Distributed</a:t>
            </a:r>
          </a:p>
          <a:p>
            <a:pPr algn="just">
              <a:lnSpc>
                <a:spcPts val="2100"/>
              </a:lnSpc>
            </a:pPr>
          </a:p>
          <a:p>
            <a:pPr algn="just" marL="323850" indent="-161925" lvl="1">
              <a:lnSpc>
                <a:spcPts val="2100"/>
              </a:lnSpc>
              <a:buFont typeface="Arial"/>
              <a:buChar char="•"/>
            </a:pPr>
            <a:r>
              <a:rPr lang="en-US" sz="1500">
                <a:solidFill>
                  <a:srgbClr val="292B2D"/>
                </a:solidFill>
                <a:latin typeface="Object Sans"/>
                <a:ea typeface="Object Sans"/>
                <a:cs typeface="Object Sans"/>
                <a:sym typeface="Object Sans"/>
              </a:rPr>
              <a:t>IQR : Used in data that highly skewed and high kurtosis</a:t>
            </a:r>
          </a:p>
        </p:txBody>
      </p:sp>
      <p:sp>
        <p:nvSpPr>
          <p:cNvPr name="TextBox 23" id="23"/>
          <p:cNvSpPr txBox="true"/>
          <p:nvPr/>
        </p:nvSpPr>
        <p:spPr>
          <a:xfrm rot="0">
            <a:off x="16023083" y="3205933"/>
            <a:ext cx="1236217" cy="381000"/>
          </a:xfrm>
          <a:prstGeom prst="rect">
            <a:avLst/>
          </a:prstGeom>
        </p:spPr>
        <p:txBody>
          <a:bodyPr anchor="t" rtlCol="false" tIns="0" lIns="0" bIns="0" rIns="0">
            <a:spAutoFit/>
          </a:bodyPr>
          <a:lstStyle/>
          <a:p>
            <a:pPr algn="l">
              <a:lnSpc>
                <a:spcPts val="2999"/>
              </a:lnSpc>
            </a:pPr>
            <a:r>
              <a:rPr lang="en-US" sz="2499" b="true">
                <a:solidFill>
                  <a:srgbClr val="292B2D"/>
                </a:solidFill>
                <a:latin typeface="Object Sans Bold"/>
                <a:ea typeface="Object Sans Bold"/>
                <a:cs typeface="Object Sans Bold"/>
                <a:sym typeface="Object Sans Bold"/>
              </a:rPr>
              <a:t>Outlier</a:t>
            </a:r>
          </a:p>
        </p:txBody>
      </p:sp>
      <p:sp>
        <p:nvSpPr>
          <p:cNvPr name="TextBox 24" id="24"/>
          <p:cNvSpPr txBox="true"/>
          <p:nvPr/>
        </p:nvSpPr>
        <p:spPr>
          <a:xfrm rot="0">
            <a:off x="15897929" y="5624955"/>
            <a:ext cx="1536786" cy="381000"/>
          </a:xfrm>
          <a:prstGeom prst="rect">
            <a:avLst/>
          </a:prstGeom>
        </p:spPr>
        <p:txBody>
          <a:bodyPr anchor="t" rtlCol="false" tIns="0" lIns="0" bIns="0" rIns="0">
            <a:spAutoFit/>
          </a:bodyPr>
          <a:lstStyle/>
          <a:p>
            <a:pPr algn="l">
              <a:lnSpc>
                <a:spcPts val="2999"/>
              </a:lnSpc>
            </a:pPr>
            <a:r>
              <a:rPr lang="en-US" sz="2499" b="true">
                <a:solidFill>
                  <a:srgbClr val="292B2D"/>
                </a:solidFill>
                <a:latin typeface="Object Sans Bold"/>
                <a:ea typeface="Object Sans Bold"/>
                <a:cs typeface="Object Sans Bold"/>
                <a:sym typeface="Object Sans Bold"/>
              </a:rPr>
              <a:t>Encoding</a:t>
            </a:r>
          </a:p>
        </p:txBody>
      </p:sp>
      <p:sp>
        <p:nvSpPr>
          <p:cNvPr name="TextBox 25" id="25"/>
          <p:cNvSpPr txBox="true"/>
          <p:nvPr/>
        </p:nvSpPr>
        <p:spPr>
          <a:xfrm rot="0">
            <a:off x="15136912" y="6853384"/>
            <a:ext cx="3058820" cy="2133600"/>
          </a:xfrm>
          <a:prstGeom prst="rect">
            <a:avLst/>
          </a:prstGeom>
        </p:spPr>
        <p:txBody>
          <a:bodyPr anchor="t" rtlCol="false" tIns="0" lIns="0" bIns="0" rIns="0">
            <a:spAutoFit/>
          </a:bodyPr>
          <a:lstStyle/>
          <a:p>
            <a:pPr algn="just" marL="323850" indent="-161925" lvl="1">
              <a:lnSpc>
                <a:spcPts val="2100"/>
              </a:lnSpc>
              <a:buFont typeface="Arial"/>
              <a:buChar char="•"/>
            </a:pPr>
            <a:r>
              <a:rPr lang="en-US" sz="1500">
                <a:solidFill>
                  <a:srgbClr val="292B2D"/>
                </a:solidFill>
                <a:latin typeface="Object Sans"/>
                <a:ea typeface="Object Sans"/>
                <a:cs typeface="Object Sans"/>
                <a:sym typeface="Object Sans"/>
              </a:rPr>
              <a:t>LabelEncoding : Digunakan untuk mengubah main data objek menjadi data numerik.</a:t>
            </a:r>
          </a:p>
          <a:p>
            <a:pPr algn="just">
              <a:lnSpc>
                <a:spcPts val="2100"/>
              </a:lnSpc>
            </a:pPr>
          </a:p>
          <a:p>
            <a:pPr algn="just" marL="323850" indent="-161925" lvl="1">
              <a:lnSpc>
                <a:spcPts val="2100"/>
              </a:lnSpc>
              <a:buFont typeface="Arial"/>
              <a:buChar char="•"/>
            </a:pPr>
            <a:r>
              <a:rPr lang="en-US" sz="1500">
                <a:solidFill>
                  <a:srgbClr val="292B2D"/>
                </a:solidFill>
                <a:latin typeface="Object Sans"/>
                <a:ea typeface="Object Sans"/>
                <a:cs typeface="Object Sans"/>
                <a:sym typeface="Object Sans"/>
              </a:rPr>
              <a:t>One-hot Encoding: Digunakan untuk mengubah data ‘Country” menjadi data numerik yang siap dianalisis.</a:t>
            </a:r>
          </a:p>
        </p:txBody>
      </p:sp>
      <p:sp>
        <p:nvSpPr>
          <p:cNvPr name="AutoShape 26" id="26"/>
          <p:cNvSpPr/>
          <p:nvPr/>
        </p:nvSpPr>
        <p:spPr>
          <a:xfrm flipV="true">
            <a:off x="0" y="5244253"/>
            <a:ext cx="18288000" cy="66"/>
          </a:xfrm>
          <a:prstGeom prst="line">
            <a:avLst/>
          </a:prstGeom>
          <a:ln cap="flat" w="38100">
            <a:solidFill>
              <a:srgbClr val="000000"/>
            </a:solidFill>
            <a:prstDash val="solid"/>
            <a:headEnd type="none" len="sm" w="sm"/>
            <a:tailEnd type="none" len="sm" w="sm"/>
          </a:ln>
        </p:spPr>
      </p:sp>
      <p:sp>
        <p:nvSpPr>
          <p:cNvPr name="AutoShape 27" id="27"/>
          <p:cNvSpPr/>
          <p:nvPr/>
        </p:nvSpPr>
        <p:spPr>
          <a:xfrm>
            <a:off x="6530232" y="50"/>
            <a:ext cx="0" cy="3067578"/>
          </a:xfrm>
          <a:prstGeom prst="line">
            <a:avLst/>
          </a:prstGeom>
          <a:ln cap="flat" w="38100">
            <a:solidFill>
              <a:srgbClr val="000000"/>
            </a:solidFill>
            <a:prstDash val="solid"/>
            <a:headEnd type="none" len="sm" w="sm"/>
            <a:tailEnd type="none" len="sm" w="sm"/>
          </a:ln>
        </p:spPr>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F6F4F1"/>
        </a:solidFill>
      </p:bgPr>
    </p:bg>
    <p:spTree>
      <p:nvGrpSpPr>
        <p:cNvPr id="1" name=""/>
        <p:cNvGrpSpPr/>
        <p:nvPr/>
      </p:nvGrpSpPr>
      <p:grpSpPr>
        <a:xfrm>
          <a:off x="0" y="0"/>
          <a:ext cx="0" cy="0"/>
          <a:chOff x="0" y="0"/>
          <a:chExt cx="0" cy="0"/>
        </a:xfrm>
      </p:grpSpPr>
      <p:sp>
        <p:nvSpPr>
          <p:cNvPr name="Freeform 2" id="2"/>
          <p:cNvSpPr/>
          <p:nvPr/>
        </p:nvSpPr>
        <p:spPr>
          <a:xfrm flipH="false" flipV="false" rot="0">
            <a:off x="326634" y="2773640"/>
            <a:ext cx="8684119" cy="4390656"/>
          </a:xfrm>
          <a:custGeom>
            <a:avLst/>
            <a:gdLst/>
            <a:ahLst/>
            <a:cxnLst/>
            <a:rect r="r" b="b" t="t" l="l"/>
            <a:pathLst>
              <a:path h="4390656" w="8684119">
                <a:moveTo>
                  <a:pt x="0" y="0"/>
                </a:moveTo>
                <a:lnTo>
                  <a:pt x="8684119" y="0"/>
                </a:lnTo>
                <a:lnTo>
                  <a:pt x="8684119" y="4390656"/>
                </a:lnTo>
                <a:lnTo>
                  <a:pt x="0" y="4390656"/>
                </a:lnTo>
                <a:lnTo>
                  <a:pt x="0" y="0"/>
                </a:lnTo>
                <a:close/>
              </a:path>
            </a:pathLst>
          </a:custGeom>
          <a:blipFill>
            <a:blip r:embed="rId2"/>
            <a:stretch>
              <a:fillRect l="0" t="0" r="-276" b="0"/>
            </a:stretch>
          </a:blipFill>
        </p:spPr>
      </p:sp>
      <p:sp>
        <p:nvSpPr>
          <p:cNvPr name="Freeform 3" id="3"/>
          <p:cNvSpPr/>
          <p:nvPr/>
        </p:nvSpPr>
        <p:spPr>
          <a:xfrm flipH="false" flipV="false" rot="0">
            <a:off x="10138242" y="2541706"/>
            <a:ext cx="3617260" cy="6251752"/>
          </a:xfrm>
          <a:custGeom>
            <a:avLst/>
            <a:gdLst/>
            <a:ahLst/>
            <a:cxnLst/>
            <a:rect r="r" b="b" t="t" l="l"/>
            <a:pathLst>
              <a:path h="6251752" w="3617260">
                <a:moveTo>
                  <a:pt x="0" y="0"/>
                </a:moveTo>
                <a:lnTo>
                  <a:pt x="3617259" y="0"/>
                </a:lnTo>
                <a:lnTo>
                  <a:pt x="3617259" y="6251752"/>
                </a:lnTo>
                <a:lnTo>
                  <a:pt x="0" y="6251752"/>
                </a:lnTo>
                <a:lnTo>
                  <a:pt x="0" y="0"/>
                </a:lnTo>
                <a:close/>
              </a:path>
            </a:pathLst>
          </a:custGeom>
          <a:blipFill>
            <a:blip r:embed="rId3"/>
            <a:stretch>
              <a:fillRect l="0" t="0" r="-5981" b="0"/>
            </a:stretch>
          </a:blipFill>
        </p:spPr>
      </p:sp>
      <p:sp>
        <p:nvSpPr>
          <p:cNvPr name="Freeform 4" id="4"/>
          <p:cNvSpPr/>
          <p:nvPr/>
        </p:nvSpPr>
        <p:spPr>
          <a:xfrm flipH="false" flipV="false" rot="0">
            <a:off x="14652352" y="2541706"/>
            <a:ext cx="3300399" cy="6251752"/>
          </a:xfrm>
          <a:custGeom>
            <a:avLst/>
            <a:gdLst/>
            <a:ahLst/>
            <a:cxnLst/>
            <a:rect r="r" b="b" t="t" l="l"/>
            <a:pathLst>
              <a:path h="6251752" w="3300399">
                <a:moveTo>
                  <a:pt x="0" y="0"/>
                </a:moveTo>
                <a:lnTo>
                  <a:pt x="3300398" y="0"/>
                </a:lnTo>
                <a:lnTo>
                  <a:pt x="3300398" y="6251752"/>
                </a:lnTo>
                <a:lnTo>
                  <a:pt x="0" y="6251752"/>
                </a:lnTo>
                <a:lnTo>
                  <a:pt x="0" y="0"/>
                </a:lnTo>
                <a:close/>
              </a:path>
            </a:pathLst>
          </a:custGeom>
          <a:blipFill>
            <a:blip r:embed="rId4"/>
            <a:stretch>
              <a:fillRect l="0" t="0" r="0" b="-237"/>
            </a:stretch>
          </a:blipFill>
        </p:spPr>
      </p:sp>
      <p:sp>
        <p:nvSpPr>
          <p:cNvPr name="TextBox 5" id="5"/>
          <p:cNvSpPr txBox="true"/>
          <p:nvPr/>
        </p:nvSpPr>
        <p:spPr>
          <a:xfrm rot="0">
            <a:off x="326634" y="1494569"/>
            <a:ext cx="4630106" cy="514350"/>
          </a:xfrm>
          <a:prstGeom prst="rect">
            <a:avLst/>
          </a:prstGeom>
        </p:spPr>
        <p:txBody>
          <a:bodyPr anchor="t" rtlCol="false" tIns="0" lIns="0" bIns="0" rIns="0">
            <a:spAutoFit/>
          </a:bodyPr>
          <a:lstStyle/>
          <a:p>
            <a:pPr algn="l">
              <a:lnSpc>
                <a:spcPts val="3903"/>
              </a:lnSpc>
            </a:pPr>
            <a:r>
              <a:rPr lang="en-US" sz="3252">
                <a:solidFill>
                  <a:srgbClr val="292B2D"/>
                </a:solidFill>
                <a:latin typeface="Object Sans"/>
                <a:ea typeface="Object Sans"/>
                <a:cs typeface="Object Sans"/>
                <a:sym typeface="Object Sans"/>
              </a:rPr>
              <a:t>Data Processing</a:t>
            </a:r>
          </a:p>
        </p:txBody>
      </p:sp>
      <p:sp>
        <p:nvSpPr>
          <p:cNvPr name="TextBox 6" id="6"/>
          <p:cNvSpPr txBox="true"/>
          <p:nvPr/>
        </p:nvSpPr>
        <p:spPr>
          <a:xfrm rot="0">
            <a:off x="465074" y="2143630"/>
            <a:ext cx="4630106" cy="400050"/>
          </a:xfrm>
          <a:prstGeom prst="rect">
            <a:avLst/>
          </a:prstGeom>
        </p:spPr>
        <p:txBody>
          <a:bodyPr anchor="t" rtlCol="false" tIns="0" lIns="0" bIns="0" rIns="0">
            <a:spAutoFit/>
          </a:bodyPr>
          <a:lstStyle/>
          <a:p>
            <a:pPr algn="l" marL="572698" indent="-286349" lvl="1">
              <a:lnSpc>
                <a:spcPts val="3183"/>
              </a:lnSpc>
              <a:buAutoNum type="arabicPeriod" startAt="1"/>
            </a:pPr>
            <a:r>
              <a:rPr lang="en-US" sz="2652">
                <a:solidFill>
                  <a:srgbClr val="292B2D"/>
                </a:solidFill>
                <a:latin typeface="Object Sans"/>
                <a:ea typeface="Object Sans"/>
                <a:cs typeface="Object Sans"/>
                <a:sym typeface="Object Sans"/>
              </a:rPr>
              <a:t>Data Cleaning</a:t>
            </a:r>
          </a:p>
        </p:txBody>
      </p:sp>
      <p:sp>
        <p:nvSpPr>
          <p:cNvPr name="TextBox 7" id="7"/>
          <p:cNvSpPr txBox="true"/>
          <p:nvPr/>
        </p:nvSpPr>
        <p:spPr>
          <a:xfrm rot="0">
            <a:off x="10472619" y="1944592"/>
            <a:ext cx="4630106" cy="398076"/>
          </a:xfrm>
          <a:prstGeom prst="rect">
            <a:avLst/>
          </a:prstGeom>
        </p:spPr>
        <p:txBody>
          <a:bodyPr anchor="t" rtlCol="false" tIns="0" lIns="0" bIns="0" rIns="0">
            <a:spAutoFit/>
          </a:bodyPr>
          <a:lstStyle/>
          <a:p>
            <a:pPr algn="l">
              <a:lnSpc>
                <a:spcPts val="3183"/>
              </a:lnSpc>
            </a:pPr>
            <a:r>
              <a:rPr lang="en-US" sz="2652" b="true">
                <a:solidFill>
                  <a:srgbClr val="292B2D"/>
                </a:solidFill>
                <a:latin typeface="Object Sans Bold"/>
                <a:ea typeface="Object Sans Bold"/>
                <a:cs typeface="Object Sans Bold"/>
                <a:sym typeface="Object Sans Bold"/>
              </a:rPr>
              <a:t>Before</a:t>
            </a:r>
          </a:p>
        </p:txBody>
      </p:sp>
      <p:sp>
        <p:nvSpPr>
          <p:cNvPr name="TextBox 8" id="8"/>
          <p:cNvSpPr txBox="true"/>
          <p:nvPr/>
        </p:nvSpPr>
        <p:spPr>
          <a:xfrm rot="0">
            <a:off x="14652352" y="1944592"/>
            <a:ext cx="4630106" cy="796152"/>
          </a:xfrm>
          <a:prstGeom prst="rect">
            <a:avLst/>
          </a:prstGeom>
        </p:spPr>
        <p:txBody>
          <a:bodyPr anchor="t" rtlCol="false" tIns="0" lIns="0" bIns="0" rIns="0">
            <a:spAutoFit/>
          </a:bodyPr>
          <a:lstStyle/>
          <a:p>
            <a:pPr algn="l">
              <a:lnSpc>
                <a:spcPts val="3183"/>
              </a:lnSpc>
            </a:pPr>
            <a:r>
              <a:rPr lang="en-US" sz="2652" b="true">
                <a:solidFill>
                  <a:srgbClr val="292B2D"/>
                </a:solidFill>
                <a:latin typeface="Object Sans Bold"/>
                <a:ea typeface="Object Sans Bold"/>
                <a:cs typeface="Object Sans Bold"/>
                <a:sym typeface="Object Sans Bold"/>
              </a:rPr>
              <a:t>After</a:t>
            </a:r>
          </a:p>
          <a:p>
            <a:pPr algn="l">
              <a:lnSpc>
                <a:spcPts val="3183"/>
              </a:lnSpc>
            </a:pP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F6F4F1"/>
        </a:solidFill>
      </p:bgPr>
    </p:bg>
    <p:spTree>
      <p:nvGrpSpPr>
        <p:cNvPr id="1" name=""/>
        <p:cNvGrpSpPr/>
        <p:nvPr/>
      </p:nvGrpSpPr>
      <p:grpSpPr>
        <a:xfrm>
          <a:off x="0" y="0"/>
          <a:ext cx="0" cy="0"/>
          <a:chOff x="0" y="0"/>
          <a:chExt cx="0" cy="0"/>
        </a:xfrm>
      </p:grpSpPr>
      <p:sp>
        <p:nvSpPr>
          <p:cNvPr name="Freeform 2" id="2"/>
          <p:cNvSpPr/>
          <p:nvPr/>
        </p:nvSpPr>
        <p:spPr>
          <a:xfrm flipH="false" flipV="false" rot="0">
            <a:off x="650259" y="2656006"/>
            <a:ext cx="13851204" cy="4501641"/>
          </a:xfrm>
          <a:custGeom>
            <a:avLst/>
            <a:gdLst/>
            <a:ahLst/>
            <a:cxnLst/>
            <a:rect r="r" b="b" t="t" l="l"/>
            <a:pathLst>
              <a:path h="4501641" w="13851204">
                <a:moveTo>
                  <a:pt x="0" y="0"/>
                </a:moveTo>
                <a:lnTo>
                  <a:pt x="13851204" y="0"/>
                </a:lnTo>
                <a:lnTo>
                  <a:pt x="13851204" y="4501641"/>
                </a:lnTo>
                <a:lnTo>
                  <a:pt x="0" y="4501641"/>
                </a:lnTo>
                <a:lnTo>
                  <a:pt x="0" y="0"/>
                </a:lnTo>
                <a:close/>
              </a:path>
            </a:pathLst>
          </a:custGeom>
          <a:blipFill>
            <a:blip r:embed="rId2"/>
            <a:stretch>
              <a:fillRect l="0" t="0" r="0" b="0"/>
            </a:stretch>
          </a:blipFill>
        </p:spPr>
      </p:sp>
      <p:sp>
        <p:nvSpPr>
          <p:cNvPr name="TextBox 3" id="3"/>
          <p:cNvSpPr txBox="true"/>
          <p:nvPr/>
        </p:nvSpPr>
        <p:spPr>
          <a:xfrm rot="0">
            <a:off x="326634" y="1494569"/>
            <a:ext cx="4630106" cy="514350"/>
          </a:xfrm>
          <a:prstGeom prst="rect">
            <a:avLst/>
          </a:prstGeom>
        </p:spPr>
        <p:txBody>
          <a:bodyPr anchor="t" rtlCol="false" tIns="0" lIns="0" bIns="0" rIns="0">
            <a:spAutoFit/>
          </a:bodyPr>
          <a:lstStyle/>
          <a:p>
            <a:pPr algn="l">
              <a:lnSpc>
                <a:spcPts val="3903"/>
              </a:lnSpc>
            </a:pPr>
            <a:r>
              <a:rPr lang="en-US" sz="3252">
                <a:solidFill>
                  <a:srgbClr val="292B2D"/>
                </a:solidFill>
                <a:latin typeface="Object Sans"/>
                <a:ea typeface="Object Sans"/>
                <a:cs typeface="Object Sans"/>
                <a:sym typeface="Object Sans"/>
              </a:rPr>
              <a:t>Data Processing</a:t>
            </a:r>
          </a:p>
        </p:txBody>
      </p:sp>
      <p:sp>
        <p:nvSpPr>
          <p:cNvPr name="TextBox 4" id="4"/>
          <p:cNvSpPr txBox="true"/>
          <p:nvPr/>
        </p:nvSpPr>
        <p:spPr>
          <a:xfrm rot="0">
            <a:off x="465074" y="2143630"/>
            <a:ext cx="4630106" cy="400050"/>
          </a:xfrm>
          <a:prstGeom prst="rect">
            <a:avLst/>
          </a:prstGeom>
        </p:spPr>
        <p:txBody>
          <a:bodyPr anchor="t" rtlCol="false" tIns="0" lIns="0" bIns="0" rIns="0">
            <a:spAutoFit/>
          </a:bodyPr>
          <a:lstStyle/>
          <a:p>
            <a:pPr algn="l" marL="572698" indent="-286349" lvl="1">
              <a:lnSpc>
                <a:spcPts val="3183"/>
              </a:lnSpc>
              <a:buAutoNum type="arabicPeriod" startAt="1"/>
            </a:pPr>
            <a:r>
              <a:rPr lang="en-US" sz="2652">
                <a:solidFill>
                  <a:srgbClr val="292B2D"/>
                </a:solidFill>
                <a:latin typeface="Object Sans"/>
                <a:ea typeface="Object Sans"/>
                <a:cs typeface="Object Sans"/>
                <a:sym typeface="Object Sans"/>
              </a:rPr>
              <a:t>Feature Engineering</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F6F4F1"/>
        </a:solidFill>
      </p:bgPr>
    </p:bg>
    <p:spTree>
      <p:nvGrpSpPr>
        <p:cNvPr id="1" name=""/>
        <p:cNvGrpSpPr/>
        <p:nvPr/>
      </p:nvGrpSpPr>
      <p:grpSpPr>
        <a:xfrm>
          <a:off x="0" y="0"/>
          <a:ext cx="0" cy="0"/>
          <a:chOff x="0" y="0"/>
          <a:chExt cx="0" cy="0"/>
        </a:xfrm>
      </p:grpSpPr>
      <p:sp>
        <p:nvSpPr>
          <p:cNvPr name="Freeform 2" id="2"/>
          <p:cNvSpPr/>
          <p:nvPr/>
        </p:nvSpPr>
        <p:spPr>
          <a:xfrm flipH="false" flipV="false" rot="0">
            <a:off x="326634" y="2541706"/>
            <a:ext cx="12608676" cy="6004882"/>
          </a:xfrm>
          <a:custGeom>
            <a:avLst/>
            <a:gdLst/>
            <a:ahLst/>
            <a:cxnLst/>
            <a:rect r="r" b="b" t="t" l="l"/>
            <a:pathLst>
              <a:path h="6004882" w="12608676">
                <a:moveTo>
                  <a:pt x="0" y="0"/>
                </a:moveTo>
                <a:lnTo>
                  <a:pt x="12608676" y="0"/>
                </a:lnTo>
                <a:lnTo>
                  <a:pt x="12608676" y="6004882"/>
                </a:lnTo>
                <a:lnTo>
                  <a:pt x="0" y="6004882"/>
                </a:lnTo>
                <a:lnTo>
                  <a:pt x="0" y="0"/>
                </a:lnTo>
                <a:close/>
              </a:path>
            </a:pathLst>
          </a:custGeom>
          <a:blipFill>
            <a:blip r:embed="rId2"/>
            <a:stretch>
              <a:fillRect l="0" t="0" r="0" b="0"/>
            </a:stretch>
          </a:blipFill>
        </p:spPr>
      </p:sp>
      <p:sp>
        <p:nvSpPr>
          <p:cNvPr name="Freeform 3" id="3"/>
          <p:cNvSpPr/>
          <p:nvPr/>
        </p:nvSpPr>
        <p:spPr>
          <a:xfrm flipH="false" flipV="false" rot="0">
            <a:off x="5682710" y="1761269"/>
            <a:ext cx="6219365" cy="3643143"/>
          </a:xfrm>
          <a:custGeom>
            <a:avLst/>
            <a:gdLst/>
            <a:ahLst/>
            <a:cxnLst/>
            <a:rect r="r" b="b" t="t" l="l"/>
            <a:pathLst>
              <a:path h="3643143" w="6219365">
                <a:moveTo>
                  <a:pt x="0" y="0"/>
                </a:moveTo>
                <a:lnTo>
                  <a:pt x="6219366" y="0"/>
                </a:lnTo>
                <a:lnTo>
                  <a:pt x="6219366" y="3643143"/>
                </a:lnTo>
                <a:lnTo>
                  <a:pt x="0" y="3643143"/>
                </a:lnTo>
                <a:lnTo>
                  <a:pt x="0" y="0"/>
                </a:lnTo>
                <a:close/>
              </a:path>
            </a:pathLst>
          </a:custGeom>
          <a:blipFill>
            <a:blip r:embed="rId3"/>
            <a:stretch>
              <a:fillRect l="0" t="0" r="0" b="0"/>
            </a:stretch>
          </a:blipFill>
        </p:spPr>
      </p:sp>
      <p:sp>
        <p:nvSpPr>
          <p:cNvPr name="Freeform 4" id="4"/>
          <p:cNvSpPr/>
          <p:nvPr/>
        </p:nvSpPr>
        <p:spPr>
          <a:xfrm flipH="false" flipV="false" rot="0">
            <a:off x="11902076" y="1761269"/>
            <a:ext cx="6202728" cy="3643143"/>
          </a:xfrm>
          <a:custGeom>
            <a:avLst/>
            <a:gdLst/>
            <a:ahLst/>
            <a:cxnLst/>
            <a:rect r="r" b="b" t="t" l="l"/>
            <a:pathLst>
              <a:path h="3643143" w="6202728">
                <a:moveTo>
                  <a:pt x="0" y="0"/>
                </a:moveTo>
                <a:lnTo>
                  <a:pt x="6202727" y="0"/>
                </a:lnTo>
                <a:lnTo>
                  <a:pt x="6202727" y="3643143"/>
                </a:lnTo>
                <a:lnTo>
                  <a:pt x="0" y="3643143"/>
                </a:lnTo>
                <a:lnTo>
                  <a:pt x="0" y="0"/>
                </a:lnTo>
                <a:close/>
              </a:path>
            </a:pathLst>
          </a:custGeom>
          <a:blipFill>
            <a:blip r:embed="rId4"/>
            <a:stretch>
              <a:fillRect l="0" t="0" r="0" b="0"/>
            </a:stretch>
          </a:blipFill>
        </p:spPr>
      </p:sp>
      <p:sp>
        <p:nvSpPr>
          <p:cNvPr name="TextBox 5" id="5"/>
          <p:cNvSpPr txBox="true"/>
          <p:nvPr/>
        </p:nvSpPr>
        <p:spPr>
          <a:xfrm rot="0">
            <a:off x="326634" y="1494569"/>
            <a:ext cx="4630106" cy="514350"/>
          </a:xfrm>
          <a:prstGeom prst="rect">
            <a:avLst/>
          </a:prstGeom>
        </p:spPr>
        <p:txBody>
          <a:bodyPr anchor="t" rtlCol="false" tIns="0" lIns="0" bIns="0" rIns="0">
            <a:spAutoFit/>
          </a:bodyPr>
          <a:lstStyle/>
          <a:p>
            <a:pPr algn="l">
              <a:lnSpc>
                <a:spcPts val="3903"/>
              </a:lnSpc>
            </a:pPr>
            <a:r>
              <a:rPr lang="en-US" sz="3252">
                <a:solidFill>
                  <a:srgbClr val="292B2D"/>
                </a:solidFill>
                <a:latin typeface="Object Sans"/>
                <a:ea typeface="Object Sans"/>
                <a:cs typeface="Object Sans"/>
                <a:sym typeface="Object Sans"/>
              </a:rPr>
              <a:t>Data Processing</a:t>
            </a:r>
          </a:p>
        </p:txBody>
      </p:sp>
      <p:sp>
        <p:nvSpPr>
          <p:cNvPr name="TextBox 6" id="6"/>
          <p:cNvSpPr txBox="true"/>
          <p:nvPr/>
        </p:nvSpPr>
        <p:spPr>
          <a:xfrm rot="0">
            <a:off x="465074" y="2143630"/>
            <a:ext cx="4630106" cy="400050"/>
          </a:xfrm>
          <a:prstGeom prst="rect">
            <a:avLst/>
          </a:prstGeom>
        </p:spPr>
        <p:txBody>
          <a:bodyPr anchor="t" rtlCol="false" tIns="0" lIns="0" bIns="0" rIns="0">
            <a:spAutoFit/>
          </a:bodyPr>
          <a:lstStyle/>
          <a:p>
            <a:pPr algn="l" marL="572698" indent="-286349" lvl="1">
              <a:lnSpc>
                <a:spcPts val="3183"/>
              </a:lnSpc>
              <a:buAutoNum type="arabicPeriod" startAt="1"/>
            </a:pPr>
            <a:r>
              <a:rPr lang="en-US" sz="2652">
                <a:solidFill>
                  <a:srgbClr val="292B2D"/>
                </a:solidFill>
                <a:latin typeface="Object Sans"/>
                <a:ea typeface="Object Sans"/>
                <a:cs typeface="Object Sans"/>
                <a:sym typeface="Object Sans"/>
              </a:rPr>
              <a:t>Outlier Handling</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F6F4F1"/>
        </a:solidFill>
      </p:bgPr>
    </p:bg>
    <p:spTree>
      <p:nvGrpSpPr>
        <p:cNvPr id="1" name=""/>
        <p:cNvGrpSpPr/>
        <p:nvPr/>
      </p:nvGrpSpPr>
      <p:grpSpPr>
        <a:xfrm>
          <a:off x="0" y="0"/>
          <a:ext cx="0" cy="0"/>
          <a:chOff x="0" y="0"/>
          <a:chExt cx="0" cy="0"/>
        </a:xfrm>
      </p:grpSpPr>
      <p:sp>
        <p:nvSpPr>
          <p:cNvPr name="Freeform 2" id="2"/>
          <p:cNvSpPr/>
          <p:nvPr/>
        </p:nvSpPr>
        <p:spPr>
          <a:xfrm flipH="false" flipV="false" rot="0">
            <a:off x="1028700" y="2517013"/>
            <a:ext cx="5299041" cy="3039987"/>
          </a:xfrm>
          <a:custGeom>
            <a:avLst/>
            <a:gdLst/>
            <a:ahLst/>
            <a:cxnLst/>
            <a:rect r="r" b="b" t="t" l="l"/>
            <a:pathLst>
              <a:path h="3039987" w="5299041">
                <a:moveTo>
                  <a:pt x="0" y="0"/>
                </a:moveTo>
                <a:lnTo>
                  <a:pt x="5299041" y="0"/>
                </a:lnTo>
                <a:lnTo>
                  <a:pt x="5299041" y="3039987"/>
                </a:lnTo>
                <a:lnTo>
                  <a:pt x="0" y="3039987"/>
                </a:lnTo>
                <a:lnTo>
                  <a:pt x="0" y="0"/>
                </a:lnTo>
                <a:close/>
              </a:path>
            </a:pathLst>
          </a:custGeom>
          <a:blipFill>
            <a:blip r:embed="rId2"/>
            <a:stretch>
              <a:fillRect l="0" t="0" r="-4070" b="0"/>
            </a:stretch>
          </a:blipFill>
        </p:spPr>
      </p:sp>
      <p:sp>
        <p:nvSpPr>
          <p:cNvPr name="Freeform 3" id="3"/>
          <p:cNvSpPr/>
          <p:nvPr/>
        </p:nvSpPr>
        <p:spPr>
          <a:xfrm flipH="false" flipV="false" rot="0">
            <a:off x="1028700" y="6364120"/>
            <a:ext cx="3938043" cy="3780995"/>
          </a:xfrm>
          <a:custGeom>
            <a:avLst/>
            <a:gdLst/>
            <a:ahLst/>
            <a:cxnLst/>
            <a:rect r="r" b="b" t="t" l="l"/>
            <a:pathLst>
              <a:path h="3780995" w="3938043">
                <a:moveTo>
                  <a:pt x="0" y="0"/>
                </a:moveTo>
                <a:lnTo>
                  <a:pt x="3938043" y="0"/>
                </a:lnTo>
                <a:lnTo>
                  <a:pt x="3938043" y="3780995"/>
                </a:lnTo>
                <a:lnTo>
                  <a:pt x="0" y="3780995"/>
                </a:lnTo>
                <a:lnTo>
                  <a:pt x="0" y="0"/>
                </a:lnTo>
                <a:close/>
              </a:path>
            </a:pathLst>
          </a:custGeom>
          <a:blipFill>
            <a:blip r:embed="rId3"/>
            <a:stretch>
              <a:fillRect l="0" t="0" r="0" b="-5202"/>
            </a:stretch>
          </a:blipFill>
        </p:spPr>
      </p:sp>
      <p:sp>
        <p:nvSpPr>
          <p:cNvPr name="Freeform 4" id="4"/>
          <p:cNvSpPr/>
          <p:nvPr/>
        </p:nvSpPr>
        <p:spPr>
          <a:xfrm flipH="false" flipV="false" rot="0">
            <a:off x="6327741" y="6364120"/>
            <a:ext cx="4336116" cy="3780995"/>
          </a:xfrm>
          <a:custGeom>
            <a:avLst/>
            <a:gdLst/>
            <a:ahLst/>
            <a:cxnLst/>
            <a:rect r="r" b="b" t="t" l="l"/>
            <a:pathLst>
              <a:path h="3780995" w="4336116">
                <a:moveTo>
                  <a:pt x="0" y="0"/>
                </a:moveTo>
                <a:lnTo>
                  <a:pt x="4336116" y="0"/>
                </a:lnTo>
                <a:lnTo>
                  <a:pt x="4336116" y="3780995"/>
                </a:lnTo>
                <a:lnTo>
                  <a:pt x="0" y="3780995"/>
                </a:lnTo>
                <a:lnTo>
                  <a:pt x="0" y="0"/>
                </a:lnTo>
                <a:close/>
              </a:path>
            </a:pathLst>
          </a:custGeom>
          <a:blipFill>
            <a:blip r:embed="rId4"/>
            <a:stretch>
              <a:fillRect l="0" t="0" r="0" b="0"/>
            </a:stretch>
          </a:blipFill>
        </p:spPr>
      </p:sp>
      <p:sp>
        <p:nvSpPr>
          <p:cNvPr name="Freeform 5" id="5"/>
          <p:cNvSpPr/>
          <p:nvPr/>
        </p:nvSpPr>
        <p:spPr>
          <a:xfrm flipH="false" flipV="false" rot="0">
            <a:off x="11720675" y="6293178"/>
            <a:ext cx="5366869" cy="3922880"/>
          </a:xfrm>
          <a:custGeom>
            <a:avLst/>
            <a:gdLst/>
            <a:ahLst/>
            <a:cxnLst/>
            <a:rect r="r" b="b" t="t" l="l"/>
            <a:pathLst>
              <a:path h="3922880" w="5366869">
                <a:moveTo>
                  <a:pt x="0" y="0"/>
                </a:moveTo>
                <a:lnTo>
                  <a:pt x="5366868" y="0"/>
                </a:lnTo>
                <a:lnTo>
                  <a:pt x="5366868" y="3922879"/>
                </a:lnTo>
                <a:lnTo>
                  <a:pt x="0" y="3922879"/>
                </a:lnTo>
                <a:lnTo>
                  <a:pt x="0" y="0"/>
                </a:lnTo>
                <a:close/>
              </a:path>
            </a:pathLst>
          </a:custGeom>
          <a:blipFill>
            <a:blip r:embed="rId5"/>
            <a:stretch>
              <a:fillRect l="0" t="0" r="0" b="-1067"/>
            </a:stretch>
          </a:blipFill>
        </p:spPr>
      </p:sp>
      <p:sp>
        <p:nvSpPr>
          <p:cNvPr name="Freeform 6" id="6"/>
          <p:cNvSpPr/>
          <p:nvPr/>
        </p:nvSpPr>
        <p:spPr>
          <a:xfrm flipH="false" flipV="false" rot="0">
            <a:off x="11720675" y="2315988"/>
            <a:ext cx="5366869" cy="3528716"/>
          </a:xfrm>
          <a:custGeom>
            <a:avLst/>
            <a:gdLst/>
            <a:ahLst/>
            <a:cxnLst/>
            <a:rect r="r" b="b" t="t" l="l"/>
            <a:pathLst>
              <a:path h="3528716" w="5366869">
                <a:moveTo>
                  <a:pt x="0" y="0"/>
                </a:moveTo>
                <a:lnTo>
                  <a:pt x="5366868" y="0"/>
                </a:lnTo>
                <a:lnTo>
                  <a:pt x="5366868" y="3528716"/>
                </a:lnTo>
                <a:lnTo>
                  <a:pt x="0" y="3528716"/>
                </a:lnTo>
                <a:lnTo>
                  <a:pt x="0" y="0"/>
                </a:lnTo>
                <a:close/>
              </a:path>
            </a:pathLst>
          </a:custGeom>
          <a:blipFill>
            <a:blip r:embed="rId6"/>
            <a:stretch>
              <a:fillRect l="0" t="0" r="0" b="0"/>
            </a:stretch>
          </a:blipFill>
        </p:spPr>
      </p:sp>
      <p:sp>
        <p:nvSpPr>
          <p:cNvPr name="TextBox 7" id="7"/>
          <p:cNvSpPr txBox="true"/>
          <p:nvPr/>
        </p:nvSpPr>
        <p:spPr>
          <a:xfrm rot="0">
            <a:off x="0" y="435186"/>
            <a:ext cx="17471191" cy="1129878"/>
          </a:xfrm>
          <a:prstGeom prst="rect">
            <a:avLst/>
          </a:prstGeom>
        </p:spPr>
        <p:txBody>
          <a:bodyPr anchor="t" rtlCol="false" tIns="0" lIns="0" bIns="0" rIns="0">
            <a:spAutoFit/>
          </a:bodyPr>
          <a:lstStyle/>
          <a:p>
            <a:pPr algn="ctr">
              <a:lnSpc>
                <a:spcPts val="3920"/>
              </a:lnSpc>
            </a:pPr>
            <a:r>
              <a:rPr lang="en-US" sz="2800" b="true">
                <a:solidFill>
                  <a:srgbClr val="000000"/>
                </a:solidFill>
                <a:latin typeface="Open Sans Bold"/>
                <a:ea typeface="Open Sans Bold"/>
                <a:cs typeface="Open Sans Bold"/>
                <a:sym typeface="Open Sans Bold"/>
              </a:rPr>
              <a:t>RQ 1 </a:t>
            </a:r>
            <a:r>
              <a:rPr lang="en-US" sz="2800">
                <a:solidFill>
                  <a:srgbClr val="000000"/>
                </a:solidFill>
                <a:latin typeface="Open Sans"/>
                <a:ea typeface="Open Sans"/>
                <a:cs typeface="Open Sans"/>
                <a:sym typeface="Open Sans"/>
              </a:rPr>
              <a:t>Bagaimana peta distribusi volume pelajar dan performa kursus pada berbagai platform pembelajaran digital (MOOC)?</a:t>
            </a:r>
          </a:p>
          <a:p>
            <a:pPr algn="ctr">
              <a:lnSpc>
                <a:spcPts val="1120"/>
              </a:lnSpc>
            </a:pPr>
            <a:r>
              <a:rPr lang="en-US" sz="800" b="true">
                <a:solidFill>
                  <a:srgbClr val="000000"/>
                </a:solidFill>
                <a:latin typeface="Open Sans Bold"/>
                <a:ea typeface="Open Sans Bold"/>
                <a:cs typeface="Open Sans Bold"/>
                <a:sym typeface="Open Sans Bold"/>
              </a:rPr>
              <a:t> </a:t>
            </a:r>
          </a:p>
        </p:txBody>
      </p:sp>
      <p:sp>
        <p:nvSpPr>
          <p:cNvPr name="TextBox 8" id="8"/>
          <p:cNvSpPr txBox="true"/>
          <p:nvPr/>
        </p:nvSpPr>
        <p:spPr>
          <a:xfrm rot="0">
            <a:off x="617165" y="1802370"/>
            <a:ext cx="4630106" cy="398076"/>
          </a:xfrm>
          <a:prstGeom prst="rect">
            <a:avLst/>
          </a:prstGeom>
        </p:spPr>
        <p:txBody>
          <a:bodyPr anchor="t" rtlCol="false" tIns="0" lIns="0" bIns="0" rIns="0">
            <a:spAutoFit/>
          </a:bodyPr>
          <a:lstStyle/>
          <a:p>
            <a:pPr algn="l">
              <a:lnSpc>
                <a:spcPts val="3183"/>
              </a:lnSpc>
            </a:pPr>
            <a:r>
              <a:rPr lang="en-US" sz="2652" b="true">
                <a:solidFill>
                  <a:srgbClr val="292B2D"/>
                </a:solidFill>
                <a:latin typeface="Object Sans Bold"/>
                <a:ea typeface="Object Sans Bold"/>
                <a:cs typeface="Object Sans Bold"/>
                <a:sym typeface="Object Sans Bold"/>
              </a:rPr>
              <a:t>Visualization</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F6F4F1"/>
        </a:solidFill>
      </p:bgPr>
    </p:bg>
    <p:spTree>
      <p:nvGrpSpPr>
        <p:cNvPr id="1" name=""/>
        <p:cNvGrpSpPr/>
        <p:nvPr/>
      </p:nvGrpSpPr>
      <p:grpSpPr>
        <a:xfrm>
          <a:off x="0" y="0"/>
          <a:ext cx="0" cy="0"/>
          <a:chOff x="0" y="0"/>
          <a:chExt cx="0" cy="0"/>
        </a:xfrm>
      </p:grpSpPr>
      <p:graphicFrame>
        <p:nvGraphicFramePr>
          <p:cNvPr name="Table 2" id="2"/>
          <p:cNvGraphicFramePr>
            <a:graphicFrameLocks noGrp="true"/>
          </p:cNvGraphicFramePr>
          <p:nvPr/>
        </p:nvGraphicFramePr>
        <p:xfrm>
          <a:off x="1028700" y="695325"/>
          <a:ext cx="16160205" cy="8905570"/>
        </p:xfrm>
        <a:graphic>
          <a:graphicData uri="http://schemas.openxmlformats.org/drawingml/2006/table">
            <a:tbl>
              <a:tblPr/>
              <a:tblGrid>
                <a:gridCol w="5232667"/>
                <a:gridCol w="5463769"/>
                <a:gridCol w="5463769"/>
              </a:tblGrid>
              <a:tr h="927895">
                <a:tc gridSpan="3">
                  <a:txBody>
                    <a:bodyPr anchor="t" rtlCol="false"/>
                    <a:lstStyle/>
                    <a:p>
                      <a:pPr algn="ctr">
                        <a:lnSpc>
                          <a:spcPts val="3499"/>
                        </a:lnSpc>
                        <a:defRPr/>
                      </a:pPr>
                      <a:r>
                        <a:rPr lang="en-US" sz="2499" b="true">
                          <a:solidFill>
                            <a:srgbClr val="000000"/>
                          </a:solidFill>
                          <a:latin typeface="Arimo Bold"/>
                          <a:ea typeface="Arimo Bold"/>
                          <a:cs typeface="Arimo Bold"/>
                          <a:sym typeface="Arimo Bold"/>
                        </a:rPr>
                        <a:t>MODEL SELECTION (CLASSIFICATION)</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hMerge="true">
                  <a:txBody>
                    <a:bodyPr anchor="t" rtlCol="false"/>
                    <a:lstStyle/>
                    <a:p>
                      <a:pPr algn="ctr">
                        <a:lnSpc>
                          <a:spcPts val="3499"/>
                        </a:lnSpc>
                        <a:defRPr/>
                      </a:pPr>
                      <a:r>
                        <a:rPr lang="en-US" sz="2499" b="true">
                          <a:solidFill>
                            <a:srgbClr val="000000"/>
                          </a:solidFill>
                          <a:latin typeface="Arimo Bold"/>
                          <a:ea typeface="Arimo Bold"/>
                          <a:cs typeface="Arimo Bold"/>
                          <a:sym typeface="Arimo Bold"/>
                        </a:rPr>
                        <a:t>MODEL SELECTION (CLASSIFICATION)</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hMerge="true">
                  <a:txBody>
                    <a:bodyPr anchor="t" rtlCol="false"/>
                    <a:lstStyle/>
                    <a:p>
                      <a:pPr algn="ctr">
                        <a:lnSpc>
                          <a:spcPts val="3499"/>
                        </a:lnSpc>
                        <a:defRPr/>
                      </a:pPr>
                      <a:r>
                        <a:rPr lang="en-US" sz="2499" b="true">
                          <a:solidFill>
                            <a:srgbClr val="000000"/>
                          </a:solidFill>
                          <a:latin typeface="Arimo Bold"/>
                          <a:ea typeface="Arimo Bold"/>
                          <a:cs typeface="Arimo Bold"/>
                          <a:sym typeface="Arimo Bold"/>
                        </a:rPr>
                        <a:t>MODEL SELECTION (CLASSIFICATION)</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851367">
                <a:tc>
                  <a:txBody>
                    <a:bodyPr anchor="t" rtlCol="false"/>
                    <a:lstStyle/>
                    <a:p>
                      <a:pPr algn="ctr">
                        <a:lnSpc>
                          <a:spcPts val="2939"/>
                        </a:lnSpc>
                        <a:defRPr/>
                      </a:pPr>
                      <a:r>
                        <a:rPr lang="en-US" sz="2099" b="true">
                          <a:solidFill>
                            <a:srgbClr val="000000"/>
                          </a:solidFill>
                          <a:latin typeface="Arimo Bold"/>
                          <a:ea typeface="Arimo Bold"/>
                          <a:cs typeface="Arimo Bold"/>
                          <a:sym typeface="Arimo Bold"/>
                        </a:rPr>
                        <a:t>Model</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939"/>
                        </a:lnSpc>
                        <a:defRPr/>
                      </a:pPr>
                      <a:r>
                        <a:rPr lang="en-US" sz="2099" b="true">
                          <a:solidFill>
                            <a:srgbClr val="000000"/>
                          </a:solidFill>
                          <a:latin typeface="Arimo Bold"/>
                          <a:ea typeface="Arimo Bold"/>
                          <a:cs typeface="Arimo Bold"/>
                          <a:sym typeface="Arimo Bold"/>
                        </a:rPr>
                        <a:t>Purpose</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939"/>
                        </a:lnSpc>
                        <a:defRPr/>
                      </a:pPr>
                      <a:r>
                        <a:rPr lang="en-US" sz="2099" b="true">
                          <a:solidFill>
                            <a:srgbClr val="000000"/>
                          </a:solidFill>
                          <a:latin typeface="Arimo Bold"/>
                          <a:ea typeface="Arimo Bold"/>
                          <a:cs typeface="Arimo Bold"/>
                          <a:sym typeface="Arimo Bold"/>
                        </a:rPr>
                        <a:t>Model Evaluation Score</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2056674">
                <a:tc>
                  <a:txBody>
                    <a:bodyPr anchor="t" rtlCol="false"/>
                    <a:lstStyle/>
                    <a:p>
                      <a:pPr algn="ctr">
                        <a:lnSpc>
                          <a:spcPts val="2520"/>
                        </a:lnSpc>
                        <a:defRPr/>
                      </a:pPr>
                      <a:r>
                        <a:rPr lang="en-US" sz="1800" b="true">
                          <a:solidFill>
                            <a:srgbClr val="000000"/>
                          </a:solidFill>
                          <a:latin typeface="Arimo Bold"/>
                          <a:ea typeface="Arimo Bold"/>
                          <a:cs typeface="Arimo Bold"/>
                          <a:sym typeface="Arimo Bold"/>
                        </a:rPr>
                        <a:t>LightGBM Classifier</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just">
                        <a:lnSpc>
                          <a:spcPts val="2520"/>
                        </a:lnSpc>
                        <a:defRPr/>
                      </a:pPr>
                      <a:r>
                        <a:rPr lang="en-US" sz="1800">
                          <a:solidFill>
                            <a:srgbClr val="000000"/>
                          </a:solidFill>
                          <a:latin typeface="Arimo"/>
                          <a:ea typeface="Arimo"/>
                          <a:cs typeface="Arimo"/>
                          <a:sym typeface="Arimo"/>
                        </a:rPr>
                        <a:t>LightGBM digunakan sebagai pembanding alternatif model yang lebih ringan, karena dataset memiliki 100.000 baris, Model ini digunakan karena memiliki keuntungan dalam kecepatan dan kehematan memori</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just">
                        <a:lnSpc>
                          <a:spcPts val="2520"/>
                        </a:lnSpc>
                        <a:defRPr/>
                      </a:pP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3012960">
                <a:tc>
                  <a:txBody>
                    <a:bodyPr anchor="t" rtlCol="false"/>
                    <a:lstStyle/>
                    <a:p>
                      <a:pPr algn="ctr">
                        <a:lnSpc>
                          <a:spcPts val="2520"/>
                        </a:lnSpc>
                        <a:defRPr/>
                      </a:pPr>
                      <a:r>
                        <a:rPr lang="en-US" sz="1800" b="true">
                          <a:solidFill>
                            <a:srgbClr val="000000"/>
                          </a:solidFill>
                          <a:latin typeface="Arimo Bold"/>
                          <a:ea typeface="Arimo Bold"/>
                          <a:cs typeface="Arimo Bold"/>
                          <a:sym typeface="Arimo Bold"/>
                        </a:rPr>
                        <a:t>Random Forest Classifier</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just">
                        <a:lnSpc>
                          <a:spcPts val="2520"/>
                        </a:lnSpc>
                        <a:defRPr/>
                      </a:pPr>
                      <a:r>
                        <a:rPr lang="en-US" sz="1800">
                          <a:solidFill>
                            <a:srgbClr val="000000"/>
                          </a:solidFill>
                          <a:latin typeface="Arimo"/>
                          <a:ea typeface="Arimo"/>
                          <a:cs typeface="Arimo"/>
                          <a:sym typeface="Arimo"/>
                        </a:rPr>
                        <a:t>Random Forest Classifier digunakan untuk menjawab RQ2, Model ini menjadi model yang stabil dan kebal terhadap noise sehingga digunakan untuk mengekstrak nilai Feature Importance (mencari tahu variabel mana seperti engagement consistency atau total jam belajar yang bobotnya paling besar dalam memicu dropout).</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just">
                        <a:lnSpc>
                          <a:spcPts val="2520"/>
                        </a:lnSpc>
                        <a:defRPr/>
                      </a:pP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2056674">
                <a:tc>
                  <a:txBody>
                    <a:bodyPr anchor="t" rtlCol="false"/>
                    <a:lstStyle/>
                    <a:p>
                      <a:pPr algn="ctr">
                        <a:lnSpc>
                          <a:spcPts val="2520"/>
                        </a:lnSpc>
                        <a:defRPr/>
                      </a:pPr>
                      <a:r>
                        <a:rPr lang="en-US" sz="1800" b="true">
                          <a:solidFill>
                            <a:srgbClr val="000000"/>
                          </a:solidFill>
                          <a:latin typeface="Arimo Bold"/>
                          <a:ea typeface="Arimo Bold"/>
                          <a:cs typeface="Arimo Bold"/>
                          <a:sym typeface="Arimo Bold"/>
                        </a:rPr>
                        <a:t>XGBoost Classifier</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just">
                        <a:lnSpc>
                          <a:spcPts val="2520"/>
                        </a:lnSpc>
                        <a:defRPr/>
                      </a:pPr>
                      <a:r>
                        <a:rPr lang="en-US" sz="1800">
                          <a:solidFill>
                            <a:srgbClr val="000000"/>
                          </a:solidFill>
                          <a:latin typeface="Arimo"/>
                          <a:ea typeface="Arimo"/>
                          <a:cs typeface="Arimo"/>
                          <a:sym typeface="Arimo"/>
                        </a:rPr>
                        <a:t>Model ini digunakan sebagai salah satu pembanding model lain karena XGBoost sangat ampuh menangani dataset tabular yang polanya sangat rumit dan data yang tidak seimbang (imbalanced).</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just">
                        <a:lnSpc>
                          <a:spcPts val="2520"/>
                        </a:lnSpc>
                        <a:defRPr/>
                      </a:pP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bl>
          </a:graphicData>
        </a:graphic>
      </p:graphicFrame>
      <p:sp>
        <p:nvSpPr>
          <p:cNvPr name="Freeform 3" id="3"/>
          <p:cNvSpPr/>
          <p:nvPr/>
        </p:nvSpPr>
        <p:spPr>
          <a:xfrm flipH="false" flipV="false" rot="0">
            <a:off x="13344880" y="2769140"/>
            <a:ext cx="2472610" cy="1568915"/>
          </a:xfrm>
          <a:custGeom>
            <a:avLst/>
            <a:gdLst/>
            <a:ahLst/>
            <a:cxnLst/>
            <a:rect r="r" b="b" t="t" l="l"/>
            <a:pathLst>
              <a:path h="1568915" w="2472610">
                <a:moveTo>
                  <a:pt x="0" y="0"/>
                </a:moveTo>
                <a:lnTo>
                  <a:pt x="2472611" y="0"/>
                </a:lnTo>
                <a:lnTo>
                  <a:pt x="2472611" y="1568915"/>
                </a:lnTo>
                <a:lnTo>
                  <a:pt x="0" y="1568915"/>
                </a:lnTo>
                <a:lnTo>
                  <a:pt x="0" y="0"/>
                </a:lnTo>
                <a:close/>
              </a:path>
            </a:pathLst>
          </a:custGeom>
          <a:blipFill>
            <a:blip r:embed="rId2"/>
            <a:stretch>
              <a:fillRect l="0" t="0" r="0" b="0"/>
            </a:stretch>
          </a:blipFill>
        </p:spPr>
      </p:sp>
      <p:sp>
        <p:nvSpPr>
          <p:cNvPr name="Freeform 4" id="4"/>
          <p:cNvSpPr/>
          <p:nvPr/>
        </p:nvSpPr>
        <p:spPr>
          <a:xfrm flipH="false" flipV="false" rot="0">
            <a:off x="13055851" y="5143500"/>
            <a:ext cx="3050668" cy="1568915"/>
          </a:xfrm>
          <a:custGeom>
            <a:avLst/>
            <a:gdLst/>
            <a:ahLst/>
            <a:cxnLst/>
            <a:rect r="r" b="b" t="t" l="l"/>
            <a:pathLst>
              <a:path h="1568915" w="3050668">
                <a:moveTo>
                  <a:pt x="0" y="0"/>
                </a:moveTo>
                <a:lnTo>
                  <a:pt x="3050669" y="0"/>
                </a:lnTo>
                <a:lnTo>
                  <a:pt x="3050669" y="1568915"/>
                </a:lnTo>
                <a:lnTo>
                  <a:pt x="0" y="1568915"/>
                </a:lnTo>
                <a:lnTo>
                  <a:pt x="0" y="0"/>
                </a:lnTo>
                <a:close/>
              </a:path>
            </a:pathLst>
          </a:custGeom>
          <a:blipFill>
            <a:blip r:embed="rId3"/>
            <a:stretch>
              <a:fillRect l="0" t="0" r="0" b="0"/>
            </a:stretch>
          </a:blipFill>
        </p:spPr>
      </p:sp>
      <p:sp>
        <p:nvSpPr>
          <p:cNvPr name="Freeform 5" id="5"/>
          <p:cNvSpPr/>
          <p:nvPr/>
        </p:nvSpPr>
        <p:spPr>
          <a:xfrm flipH="false" flipV="false" rot="0">
            <a:off x="13344880" y="7698725"/>
            <a:ext cx="2472610" cy="1684048"/>
          </a:xfrm>
          <a:custGeom>
            <a:avLst/>
            <a:gdLst/>
            <a:ahLst/>
            <a:cxnLst/>
            <a:rect r="r" b="b" t="t" l="l"/>
            <a:pathLst>
              <a:path h="1684048" w="2472610">
                <a:moveTo>
                  <a:pt x="0" y="0"/>
                </a:moveTo>
                <a:lnTo>
                  <a:pt x="2472611" y="0"/>
                </a:lnTo>
                <a:lnTo>
                  <a:pt x="2472611" y="1684048"/>
                </a:lnTo>
                <a:lnTo>
                  <a:pt x="0" y="1684048"/>
                </a:lnTo>
                <a:lnTo>
                  <a:pt x="0" y="0"/>
                </a:lnTo>
                <a:close/>
              </a:path>
            </a:pathLst>
          </a:custGeom>
          <a:blipFill>
            <a:blip r:embed="rId4"/>
            <a:stretch>
              <a:fillRect l="0" t="0" r="0" b="0"/>
            </a:stretch>
          </a:blipFill>
        </p:spPr>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F6F4F1"/>
        </a:solidFill>
      </p:bgPr>
    </p:bg>
    <p:spTree>
      <p:nvGrpSpPr>
        <p:cNvPr id="1" name=""/>
        <p:cNvGrpSpPr/>
        <p:nvPr/>
      </p:nvGrpSpPr>
      <p:grpSpPr>
        <a:xfrm>
          <a:off x="0" y="0"/>
          <a:ext cx="0" cy="0"/>
          <a:chOff x="0" y="0"/>
          <a:chExt cx="0" cy="0"/>
        </a:xfrm>
      </p:grpSpPr>
      <p:graphicFrame>
        <p:nvGraphicFramePr>
          <p:cNvPr name="Table 2" id="2"/>
          <p:cNvGraphicFramePr>
            <a:graphicFrameLocks noGrp="true"/>
          </p:cNvGraphicFramePr>
          <p:nvPr/>
        </p:nvGraphicFramePr>
        <p:xfrm>
          <a:off x="1028700" y="379873"/>
          <a:ext cx="16230600" cy="9294102"/>
        </p:xfrm>
        <a:graphic>
          <a:graphicData uri="http://schemas.openxmlformats.org/drawingml/2006/table">
            <a:tbl>
              <a:tblPr/>
              <a:tblGrid>
                <a:gridCol w="2970527"/>
                <a:gridCol w="6630036"/>
                <a:gridCol w="6630036"/>
              </a:tblGrid>
              <a:tr h="1106010">
                <a:tc gridSpan="3">
                  <a:txBody>
                    <a:bodyPr anchor="t" rtlCol="false"/>
                    <a:lstStyle/>
                    <a:p>
                      <a:pPr algn="ctr">
                        <a:lnSpc>
                          <a:spcPts val="3499"/>
                        </a:lnSpc>
                        <a:defRPr/>
                      </a:pPr>
                      <a:r>
                        <a:rPr lang="en-US" sz="2499" b="true">
                          <a:solidFill>
                            <a:srgbClr val="000000"/>
                          </a:solidFill>
                          <a:latin typeface="Arimo Bold"/>
                          <a:ea typeface="Arimo Bold"/>
                          <a:cs typeface="Arimo Bold"/>
                          <a:sym typeface="Arimo Bold"/>
                        </a:rPr>
                        <a:t>MODEL SELECTION (REGRESSION)</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hMerge="true">
                  <a:txBody>
                    <a:bodyPr anchor="t" rtlCol="false"/>
                    <a:lstStyle/>
                    <a:p>
                      <a:pPr algn="ctr">
                        <a:lnSpc>
                          <a:spcPts val="3499"/>
                        </a:lnSpc>
                        <a:defRPr/>
                      </a:pPr>
                      <a:r>
                        <a:rPr lang="en-US" sz="2499" b="true">
                          <a:solidFill>
                            <a:srgbClr val="000000"/>
                          </a:solidFill>
                          <a:latin typeface="Arimo Bold"/>
                          <a:ea typeface="Arimo Bold"/>
                          <a:cs typeface="Arimo Bold"/>
                          <a:sym typeface="Arimo Bold"/>
                        </a:rPr>
                        <a:t>MODEL SELECTION (REGRESSION)</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hMerge="true">
                  <a:txBody>
                    <a:bodyPr anchor="t" rtlCol="false"/>
                    <a:lstStyle/>
                    <a:p>
                      <a:pPr algn="ctr">
                        <a:lnSpc>
                          <a:spcPts val="3499"/>
                        </a:lnSpc>
                        <a:defRPr/>
                      </a:pPr>
                      <a:r>
                        <a:rPr lang="en-US" sz="2499" b="true">
                          <a:solidFill>
                            <a:srgbClr val="000000"/>
                          </a:solidFill>
                          <a:latin typeface="Arimo Bold"/>
                          <a:ea typeface="Arimo Bold"/>
                          <a:cs typeface="Arimo Bold"/>
                          <a:sym typeface="Arimo Bold"/>
                        </a:rPr>
                        <a:t>MODEL SELECTION (REGRESSION)</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1014792">
                <a:tc>
                  <a:txBody>
                    <a:bodyPr anchor="t" rtlCol="false"/>
                    <a:lstStyle/>
                    <a:p>
                      <a:pPr algn="ctr">
                        <a:lnSpc>
                          <a:spcPts val="2939"/>
                        </a:lnSpc>
                        <a:defRPr/>
                      </a:pPr>
                      <a:r>
                        <a:rPr lang="en-US" sz="2099" b="true">
                          <a:solidFill>
                            <a:srgbClr val="000000"/>
                          </a:solidFill>
                          <a:latin typeface="Arimo Bold"/>
                          <a:ea typeface="Arimo Bold"/>
                          <a:cs typeface="Arimo Bold"/>
                          <a:sym typeface="Arimo Bold"/>
                        </a:rPr>
                        <a:t>Model</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939"/>
                        </a:lnSpc>
                        <a:defRPr/>
                      </a:pPr>
                      <a:r>
                        <a:rPr lang="en-US" sz="2099" b="true">
                          <a:solidFill>
                            <a:srgbClr val="000000"/>
                          </a:solidFill>
                          <a:latin typeface="Arimo Bold"/>
                          <a:ea typeface="Arimo Bold"/>
                          <a:cs typeface="Arimo Bold"/>
                          <a:sym typeface="Arimo Bold"/>
                        </a:rPr>
                        <a:t>Purpose</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939"/>
                        </a:lnSpc>
                        <a:defRPr/>
                      </a:pPr>
                      <a:r>
                        <a:rPr lang="en-US" sz="2099" b="true">
                          <a:solidFill>
                            <a:srgbClr val="000000"/>
                          </a:solidFill>
                          <a:latin typeface="Arimo Bold"/>
                          <a:ea typeface="Arimo Bold"/>
                          <a:cs typeface="Arimo Bold"/>
                          <a:sym typeface="Arimo Bold"/>
                        </a:rPr>
                        <a:t>Model Evaluation Score</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1982348">
                <a:tc>
                  <a:txBody>
                    <a:bodyPr anchor="t" rtlCol="false"/>
                    <a:lstStyle/>
                    <a:p>
                      <a:pPr algn="ctr">
                        <a:lnSpc>
                          <a:spcPts val="2520"/>
                        </a:lnSpc>
                        <a:defRPr/>
                      </a:pPr>
                      <a:r>
                        <a:rPr lang="en-US" sz="1800" b="true">
                          <a:solidFill>
                            <a:srgbClr val="000000"/>
                          </a:solidFill>
                          <a:latin typeface="Arimo Bold"/>
                          <a:ea typeface="Arimo Bold"/>
                          <a:cs typeface="Arimo Bold"/>
                          <a:sym typeface="Arimo Bold"/>
                        </a:rPr>
                        <a:t>Random Forest Regressor (RQ3)</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just">
                        <a:lnSpc>
                          <a:spcPts val="2520"/>
                        </a:lnSpc>
                        <a:defRPr/>
                      </a:pPr>
                      <a:r>
                        <a:rPr lang="en-US" sz="1800">
                          <a:solidFill>
                            <a:srgbClr val="000000"/>
                          </a:solidFill>
                          <a:latin typeface="Arimo"/>
                          <a:ea typeface="Arimo"/>
                          <a:cs typeface="Arimo"/>
                          <a:sym typeface="Arimo"/>
                        </a:rPr>
                        <a:t>Digunakan untuk mengatasi kelemahan Linear Regression, visualisasi Feature Importance (faktor apa yang paling kuat mendorong efisiensi belajar).</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just">
                        <a:lnSpc>
                          <a:spcPts val="2520"/>
                        </a:lnSpc>
                        <a:defRPr/>
                      </a:pP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1416837">
                <a:tc>
                  <a:txBody>
                    <a:bodyPr anchor="t" rtlCol="false"/>
                    <a:lstStyle/>
                    <a:p>
                      <a:pPr algn="ctr">
                        <a:lnSpc>
                          <a:spcPts val="2520"/>
                        </a:lnSpc>
                        <a:defRPr/>
                      </a:pPr>
                      <a:r>
                        <a:rPr lang="en-US" sz="1800" b="true">
                          <a:solidFill>
                            <a:srgbClr val="000000"/>
                          </a:solidFill>
                          <a:latin typeface="Arimo Bold"/>
                          <a:ea typeface="Arimo Bold"/>
                          <a:cs typeface="Arimo Bold"/>
                          <a:sym typeface="Arimo Bold"/>
                        </a:rPr>
                        <a:t>Linear Regression (RQ3)</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just">
                        <a:lnSpc>
                          <a:spcPts val="2520"/>
                        </a:lnSpc>
                        <a:defRPr/>
                      </a:pPr>
                      <a:r>
                        <a:rPr lang="en-US" sz="1800">
                          <a:solidFill>
                            <a:srgbClr val="000000"/>
                          </a:solidFill>
                          <a:latin typeface="Arimo"/>
                          <a:ea typeface="Arimo"/>
                          <a:cs typeface="Arimo"/>
                          <a:sym typeface="Arimo"/>
                        </a:rPr>
                        <a:t>Karena hubungan perilaku belajar siswa itu rumit dan tidak membentuk garis lurus (non-linear)</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just">
                        <a:lnSpc>
                          <a:spcPts val="2520"/>
                        </a:lnSpc>
                        <a:defRPr/>
                      </a:pP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2075193">
                <a:tc>
                  <a:txBody>
                    <a:bodyPr anchor="t" rtlCol="false"/>
                    <a:lstStyle/>
                    <a:p>
                      <a:pPr algn="ctr">
                        <a:lnSpc>
                          <a:spcPts val="2520"/>
                        </a:lnSpc>
                        <a:defRPr/>
                      </a:pPr>
                      <a:r>
                        <a:rPr lang="en-US" sz="1800" b="true">
                          <a:solidFill>
                            <a:srgbClr val="000000"/>
                          </a:solidFill>
                          <a:latin typeface="Arimo Bold"/>
                          <a:ea typeface="Arimo Bold"/>
                          <a:cs typeface="Arimo Bold"/>
                          <a:sym typeface="Arimo Bold"/>
                        </a:rPr>
                        <a:t>XGBoost Regressor (RQ3)</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just">
                        <a:lnSpc>
                          <a:spcPts val="2520"/>
                        </a:lnSpc>
                        <a:defRPr/>
                      </a:pPr>
                      <a:r>
                        <a:rPr lang="en-US" sz="1800">
                          <a:solidFill>
                            <a:srgbClr val="000000"/>
                          </a:solidFill>
                          <a:latin typeface="Arimo"/>
                          <a:ea typeface="Arimo"/>
                          <a:cs typeface="Arimo"/>
                          <a:sym typeface="Arimo"/>
                        </a:rPr>
                        <a:t>Model ini digunakan sebagai salah satu pembanding model lain karena XGBoost sangat ampuh menangani dataset tabular yang polanya sangat rumit dan data yang tidak seimbang (imbalanced).</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just">
                        <a:lnSpc>
                          <a:spcPts val="2520"/>
                        </a:lnSpc>
                        <a:defRPr/>
                      </a:pP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1698922">
                <a:tc>
                  <a:txBody>
                    <a:bodyPr anchor="t" rtlCol="false"/>
                    <a:lstStyle/>
                    <a:p>
                      <a:pPr algn="ctr">
                        <a:lnSpc>
                          <a:spcPts val="2520"/>
                        </a:lnSpc>
                        <a:defRPr/>
                      </a:pPr>
                      <a:r>
                        <a:rPr lang="en-US" sz="1800" b="true">
                          <a:solidFill>
                            <a:srgbClr val="000000"/>
                          </a:solidFill>
                          <a:latin typeface="Arimo Bold"/>
                          <a:ea typeface="Arimo Bold"/>
                          <a:cs typeface="Arimo Bold"/>
                          <a:sym typeface="Arimo Bold"/>
                        </a:rPr>
                        <a:t>Logistic Regression (Optuna) (RQ2)</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just">
                        <a:lnSpc>
                          <a:spcPts val="2520"/>
                        </a:lnSpc>
                        <a:defRPr/>
                      </a:pPr>
                      <a:r>
                        <a:rPr lang="en-US" sz="1800">
                          <a:solidFill>
                            <a:srgbClr val="000000"/>
                          </a:solidFill>
                          <a:latin typeface="Arimo"/>
                          <a:ea typeface="Arimo"/>
                          <a:cs typeface="Arimo"/>
                          <a:sym typeface="Arimo"/>
                        </a:rPr>
                        <a:t>Mendemonstrasikan teknik Hyperparameter Tuning untuk secara otomatis mencari setelan paling sempurna mendongkrak batas maksimal dari model klasik</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just">
                        <a:lnSpc>
                          <a:spcPts val="2520"/>
                        </a:lnSpc>
                        <a:defRPr/>
                      </a:pP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bl>
          </a:graphicData>
        </a:graphic>
      </p:graphicFrame>
      <p:sp>
        <p:nvSpPr>
          <p:cNvPr name="Freeform 3" id="3"/>
          <p:cNvSpPr/>
          <p:nvPr/>
        </p:nvSpPr>
        <p:spPr>
          <a:xfrm flipH="false" flipV="false" rot="0">
            <a:off x="11454622" y="6262477"/>
            <a:ext cx="4944924" cy="1409466"/>
          </a:xfrm>
          <a:custGeom>
            <a:avLst/>
            <a:gdLst/>
            <a:ahLst/>
            <a:cxnLst/>
            <a:rect r="r" b="b" t="t" l="l"/>
            <a:pathLst>
              <a:path h="1409466" w="4944924">
                <a:moveTo>
                  <a:pt x="0" y="0"/>
                </a:moveTo>
                <a:lnTo>
                  <a:pt x="4944923" y="0"/>
                </a:lnTo>
                <a:lnTo>
                  <a:pt x="4944923" y="1409467"/>
                </a:lnTo>
                <a:lnTo>
                  <a:pt x="0" y="1409467"/>
                </a:lnTo>
                <a:lnTo>
                  <a:pt x="0" y="0"/>
                </a:lnTo>
                <a:close/>
              </a:path>
            </a:pathLst>
          </a:custGeom>
          <a:blipFill>
            <a:blip r:embed="rId2"/>
            <a:stretch>
              <a:fillRect l="0" t="0" r="0" b="-2683"/>
            </a:stretch>
          </a:blipFill>
        </p:spPr>
      </p:sp>
      <p:sp>
        <p:nvSpPr>
          <p:cNvPr name="Freeform 4" id="4"/>
          <p:cNvSpPr/>
          <p:nvPr/>
        </p:nvSpPr>
        <p:spPr>
          <a:xfrm flipH="false" flipV="false" rot="0">
            <a:off x="11977709" y="2773241"/>
            <a:ext cx="3898748" cy="1388824"/>
          </a:xfrm>
          <a:custGeom>
            <a:avLst/>
            <a:gdLst/>
            <a:ahLst/>
            <a:cxnLst/>
            <a:rect r="r" b="b" t="t" l="l"/>
            <a:pathLst>
              <a:path h="1388824" w="3898748">
                <a:moveTo>
                  <a:pt x="0" y="0"/>
                </a:moveTo>
                <a:lnTo>
                  <a:pt x="3898749" y="0"/>
                </a:lnTo>
                <a:lnTo>
                  <a:pt x="3898749" y="1388825"/>
                </a:lnTo>
                <a:lnTo>
                  <a:pt x="0" y="1388825"/>
                </a:lnTo>
                <a:lnTo>
                  <a:pt x="0" y="0"/>
                </a:lnTo>
                <a:close/>
              </a:path>
            </a:pathLst>
          </a:custGeom>
          <a:blipFill>
            <a:blip r:embed="rId3"/>
            <a:stretch>
              <a:fillRect l="0" t="0" r="0" b="0"/>
            </a:stretch>
          </a:blipFill>
        </p:spPr>
      </p:sp>
      <p:sp>
        <p:nvSpPr>
          <p:cNvPr name="Freeform 5" id="5"/>
          <p:cNvSpPr/>
          <p:nvPr/>
        </p:nvSpPr>
        <p:spPr>
          <a:xfrm flipH="false" flipV="false" rot="0">
            <a:off x="12166178" y="4631892"/>
            <a:ext cx="3521811" cy="1163860"/>
          </a:xfrm>
          <a:custGeom>
            <a:avLst/>
            <a:gdLst/>
            <a:ahLst/>
            <a:cxnLst/>
            <a:rect r="r" b="b" t="t" l="l"/>
            <a:pathLst>
              <a:path h="1163860" w="3521811">
                <a:moveTo>
                  <a:pt x="0" y="0"/>
                </a:moveTo>
                <a:lnTo>
                  <a:pt x="3521811" y="0"/>
                </a:lnTo>
                <a:lnTo>
                  <a:pt x="3521811" y="1163860"/>
                </a:lnTo>
                <a:lnTo>
                  <a:pt x="0" y="1163860"/>
                </a:lnTo>
                <a:lnTo>
                  <a:pt x="0" y="0"/>
                </a:lnTo>
                <a:close/>
              </a:path>
            </a:pathLst>
          </a:custGeom>
          <a:blipFill>
            <a:blip r:embed="rId4"/>
            <a:stretch>
              <a:fillRect l="0" t="0" r="0" b="0"/>
            </a:stretch>
          </a:blipFill>
        </p:spPr>
      </p:sp>
      <p:sp>
        <p:nvSpPr>
          <p:cNvPr name="Freeform 6" id="6"/>
          <p:cNvSpPr/>
          <p:nvPr/>
        </p:nvSpPr>
        <p:spPr>
          <a:xfrm flipH="false" flipV="false" rot="0">
            <a:off x="11755446" y="8141770"/>
            <a:ext cx="4343276" cy="1447759"/>
          </a:xfrm>
          <a:custGeom>
            <a:avLst/>
            <a:gdLst/>
            <a:ahLst/>
            <a:cxnLst/>
            <a:rect r="r" b="b" t="t" l="l"/>
            <a:pathLst>
              <a:path h="1447759" w="4343276">
                <a:moveTo>
                  <a:pt x="0" y="0"/>
                </a:moveTo>
                <a:lnTo>
                  <a:pt x="4343275" y="0"/>
                </a:lnTo>
                <a:lnTo>
                  <a:pt x="4343275" y="1447759"/>
                </a:lnTo>
                <a:lnTo>
                  <a:pt x="0" y="1447759"/>
                </a:lnTo>
                <a:lnTo>
                  <a:pt x="0" y="0"/>
                </a:lnTo>
                <a:close/>
              </a:path>
            </a:pathLst>
          </a:custGeom>
          <a:blipFill>
            <a:blip r:embed="rId5"/>
            <a:stretch>
              <a:fillRect l="0" t="0" r="0" b="0"/>
            </a:stretch>
          </a:blipFill>
        </p:spPr>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F6F4F1"/>
        </a:solidFill>
      </p:bgPr>
    </p:bg>
    <p:spTree>
      <p:nvGrpSpPr>
        <p:cNvPr id="1" name=""/>
        <p:cNvGrpSpPr/>
        <p:nvPr/>
      </p:nvGrpSpPr>
      <p:grpSpPr>
        <a:xfrm>
          <a:off x="0" y="0"/>
          <a:ext cx="0" cy="0"/>
          <a:chOff x="0" y="0"/>
          <a:chExt cx="0" cy="0"/>
        </a:xfrm>
      </p:grpSpPr>
      <p:sp>
        <p:nvSpPr>
          <p:cNvPr name="Freeform 2" id="2"/>
          <p:cNvSpPr/>
          <p:nvPr/>
        </p:nvSpPr>
        <p:spPr>
          <a:xfrm flipH="false" flipV="false" rot="0">
            <a:off x="1922986" y="2596915"/>
            <a:ext cx="14442028" cy="6661385"/>
          </a:xfrm>
          <a:custGeom>
            <a:avLst/>
            <a:gdLst/>
            <a:ahLst/>
            <a:cxnLst/>
            <a:rect r="r" b="b" t="t" l="l"/>
            <a:pathLst>
              <a:path h="6661385" w="14442028">
                <a:moveTo>
                  <a:pt x="0" y="0"/>
                </a:moveTo>
                <a:lnTo>
                  <a:pt x="14442028" y="0"/>
                </a:lnTo>
                <a:lnTo>
                  <a:pt x="14442028" y="6661385"/>
                </a:lnTo>
                <a:lnTo>
                  <a:pt x="0" y="6661385"/>
                </a:lnTo>
                <a:lnTo>
                  <a:pt x="0" y="0"/>
                </a:lnTo>
                <a:close/>
              </a:path>
            </a:pathLst>
          </a:custGeom>
          <a:blipFill>
            <a:blip r:embed="rId2"/>
            <a:stretch>
              <a:fillRect l="0" t="0" r="0" b="0"/>
            </a:stretch>
          </a:blipFill>
        </p:spPr>
      </p:sp>
      <p:sp>
        <p:nvSpPr>
          <p:cNvPr name="TextBox 3" id="3"/>
          <p:cNvSpPr txBox="true"/>
          <p:nvPr/>
        </p:nvSpPr>
        <p:spPr>
          <a:xfrm rot="0">
            <a:off x="4000864" y="1152525"/>
            <a:ext cx="10286272" cy="848360"/>
          </a:xfrm>
          <a:prstGeom prst="rect">
            <a:avLst/>
          </a:prstGeom>
        </p:spPr>
        <p:txBody>
          <a:bodyPr anchor="t" rtlCol="false" tIns="0" lIns="0" bIns="0" rIns="0">
            <a:spAutoFit/>
          </a:bodyPr>
          <a:lstStyle/>
          <a:p>
            <a:pPr algn="ctr">
              <a:lnSpc>
                <a:spcPts val="6399"/>
              </a:lnSpc>
            </a:pPr>
            <a:r>
              <a:rPr lang="en-US" sz="6399" spc="-511">
                <a:solidFill>
                  <a:srgbClr val="292B2D"/>
                </a:solidFill>
                <a:latin typeface="Object Sans"/>
                <a:ea typeface="Object Sans"/>
                <a:cs typeface="Object Sans"/>
                <a:sym typeface="Object Sans"/>
              </a:rPr>
              <a:t>KESIMPULAN</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F6F4F1"/>
        </a:solidFill>
      </p:bgPr>
    </p:bg>
    <p:spTree>
      <p:nvGrpSpPr>
        <p:cNvPr id="1" name=""/>
        <p:cNvGrpSpPr/>
        <p:nvPr/>
      </p:nvGrpSpPr>
      <p:grpSpPr>
        <a:xfrm>
          <a:off x="0" y="0"/>
          <a:ext cx="0" cy="0"/>
          <a:chOff x="0" y="0"/>
          <a:chExt cx="0" cy="0"/>
        </a:xfrm>
      </p:grpSpPr>
      <p:sp>
        <p:nvSpPr>
          <p:cNvPr name="Freeform 2" id="2"/>
          <p:cNvSpPr/>
          <p:nvPr/>
        </p:nvSpPr>
        <p:spPr>
          <a:xfrm flipH="false" flipV="false" rot="0">
            <a:off x="9886422" y="4327275"/>
            <a:ext cx="7754138" cy="1632450"/>
          </a:xfrm>
          <a:custGeom>
            <a:avLst/>
            <a:gdLst/>
            <a:ahLst/>
            <a:cxnLst/>
            <a:rect r="r" b="b" t="t" l="l"/>
            <a:pathLst>
              <a:path h="1632450" w="7754138">
                <a:moveTo>
                  <a:pt x="0" y="0"/>
                </a:moveTo>
                <a:lnTo>
                  <a:pt x="7754138" y="0"/>
                </a:lnTo>
                <a:lnTo>
                  <a:pt x="7754138" y="1632450"/>
                </a:lnTo>
                <a:lnTo>
                  <a:pt x="0" y="1632450"/>
                </a:lnTo>
                <a:lnTo>
                  <a:pt x="0" y="0"/>
                </a:lnTo>
                <a:close/>
              </a:path>
            </a:pathLst>
          </a:custGeom>
          <a:blipFill>
            <a:blip r:embed="rId2"/>
            <a:stretch>
              <a:fillRect l="0" t="0" r="0" b="0"/>
            </a:stretch>
          </a:blipFill>
        </p:spPr>
      </p:sp>
      <p:sp>
        <p:nvSpPr>
          <p:cNvPr name="Freeform 3" id="3"/>
          <p:cNvSpPr/>
          <p:nvPr/>
        </p:nvSpPr>
        <p:spPr>
          <a:xfrm flipH="false" flipV="false" rot="0">
            <a:off x="1028700" y="2029656"/>
            <a:ext cx="8115300" cy="7597012"/>
          </a:xfrm>
          <a:custGeom>
            <a:avLst/>
            <a:gdLst/>
            <a:ahLst/>
            <a:cxnLst/>
            <a:rect r="r" b="b" t="t" l="l"/>
            <a:pathLst>
              <a:path h="7597012" w="8115300">
                <a:moveTo>
                  <a:pt x="0" y="0"/>
                </a:moveTo>
                <a:lnTo>
                  <a:pt x="8115300" y="0"/>
                </a:lnTo>
                <a:lnTo>
                  <a:pt x="8115300" y="7597012"/>
                </a:lnTo>
                <a:lnTo>
                  <a:pt x="0" y="7597012"/>
                </a:lnTo>
                <a:lnTo>
                  <a:pt x="0" y="0"/>
                </a:lnTo>
                <a:close/>
              </a:path>
            </a:pathLst>
          </a:custGeom>
          <a:blipFill>
            <a:blip r:embed="rId3"/>
            <a:stretch>
              <a:fillRect l="0" t="0" r="0" b="0"/>
            </a:stretch>
          </a:blipFill>
        </p:spPr>
      </p:sp>
      <p:sp>
        <p:nvSpPr>
          <p:cNvPr name="TextBox 4" id="4"/>
          <p:cNvSpPr txBox="true"/>
          <p:nvPr/>
        </p:nvSpPr>
        <p:spPr>
          <a:xfrm rot="0">
            <a:off x="4000864" y="1152525"/>
            <a:ext cx="10286272" cy="848360"/>
          </a:xfrm>
          <a:prstGeom prst="rect">
            <a:avLst/>
          </a:prstGeom>
        </p:spPr>
        <p:txBody>
          <a:bodyPr anchor="t" rtlCol="false" tIns="0" lIns="0" bIns="0" rIns="0">
            <a:spAutoFit/>
          </a:bodyPr>
          <a:lstStyle/>
          <a:p>
            <a:pPr algn="ctr">
              <a:lnSpc>
                <a:spcPts val="6399"/>
              </a:lnSpc>
            </a:pPr>
            <a:r>
              <a:rPr lang="en-US" sz="6399" spc="-511">
                <a:solidFill>
                  <a:srgbClr val="292B2D"/>
                </a:solidFill>
                <a:latin typeface="Object Sans"/>
                <a:ea typeface="Object Sans"/>
                <a:cs typeface="Object Sans"/>
                <a:sym typeface="Object Sans"/>
              </a:rPr>
              <a:t>KESIMPULAN</a:t>
            </a:r>
          </a:p>
        </p:txBody>
      </p:sp>
    </p:spTree>
  </p:cSld>
  <p:clrMapOvr>
    <a:masterClrMapping/>
  </p:clrMapOvr>
</p:sld>
</file>

<file path=ppt/slides/slide12.xml><?xml version="1.0" encoding="utf-8"?>
<p:sld xmlns:p="http://schemas.openxmlformats.org/presentationml/2006/main" xmlns:a="http://schemas.openxmlformats.org/drawingml/2006/main">
  <p:cSld>
    <p:bg>
      <p:bgPr>
        <a:solidFill>
          <a:srgbClr val="F6F4F1"/>
        </a:solidFill>
      </p:bgPr>
    </p:bg>
    <p:spTree>
      <p:nvGrpSpPr>
        <p:cNvPr id="1" name=""/>
        <p:cNvGrpSpPr/>
        <p:nvPr/>
      </p:nvGrpSpPr>
      <p:grpSpPr>
        <a:xfrm>
          <a:off x="0" y="0"/>
          <a:ext cx="0" cy="0"/>
          <a:chOff x="0" y="0"/>
          <a:chExt cx="0" cy="0"/>
        </a:xfrm>
      </p:grpSpPr>
      <p:sp>
        <p:nvSpPr>
          <p:cNvPr name="TextBox 2" id="2"/>
          <p:cNvSpPr txBox="true"/>
          <p:nvPr/>
        </p:nvSpPr>
        <p:spPr>
          <a:xfrm rot="0">
            <a:off x="2879023" y="1152525"/>
            <a:ext cx="12529955" cy="848360"/>
          </a:xfrm>
          <a:prstGeom prst="rect">
            <a:avLst/>
          </a:prstGeom>
        </p:spPr>
        <p:txBody>
          <a:bodyPr anchor="t" rtlCol="false" tIns="0" lIns="0" bIns="0" rIns="0">
            <a:spAutoFit/>
          </a:bodyPr>
          <a:lstStyle/>
          <a:p>
            <a:pPr algn="ctr">
              <a:lnSpc>
                <a:spcPts val="6399"/>
              </a:lnSpc>
            </a:pPr>
            <a:r>
              <a:rPr lang="en-US" sz="6399" spc="-511">
                <a:solidFill>
                  <a:srgbClr val="292B2D"/>
                </a:solidFill>
                <a:latin typeface="Object Sans"/>
                <a:ea typeface="Object Sans"/>
                <a:cs typeface="Object Sans"/>
                <a:sym typeface="Object Sans"/>
              </a:rPr>
              <a:t>THE MOST IMPACTFUL VARIABLE</a:t>
            </a:r>
          </a:p>
        </p:txBody>
      </p:sp>
      <p:sp>
        <p:nvSpPr>
          <p:cNvPr name="TextBox 3" id="3"/>
          <p:cNvSpPr txBox="true"/>
          <p:nvPr/>
        </p:nvSpPr>
        <p:spPr>
          <a:xfrm rot="0">
            <a:off x="1028700" y="2742086"/>
            <a:ext cx="16230600" cy="790575"/>
          </a:xfrm>
          <a:prstGeom prst="rect">
            <a:avLst/>
          </a:prstGeom>
        </p:spPr>
        <p:txBody>
          <a:bodyPr anchor="t" rtlCol="false" tIns="0" lIns="0" bIns="0" rIns="0">
            <a:spAutoFit/>
          </a:bodyPr>
          <a:lstStyle/>
          <a:p>
            <a:pPr algn="just">
              <a:lnSpc>
                <a:spcPts val="3000"/>
              </a:lnSpc>
            </a:pPr>
            <a:r>
              <a:rPr lang="en-US" sz="3000">
                <a:solidFill>
                  <a:srgbClr val="292B2D"/>
                </a:solidFill>
                <a:latin typeface="Object Sans"/>
                <a:ea typeface="Object Sans"/>
                <a:cs typeface="Object Sans"/>
                <a:sym typeface="Object Sans"/>
              </a:rPr>
              <a:t>[RQ 2] Faktor-faktor interaksi dan demografi apa saja yang paling memengaruhi tingkat retensi serta memicu titik jenuh (churn/dropout) pelajar?</a:t>
            </a:r>
          </a:p>
        </p:txBody>
      </p:sp>
      <p:sp>
        <p:nvSpPr>
          <p:cNvPr name="TextBox 4" id="4"/>
          <p:cNvSpPr txBox="true"/>
          <p:nvPr/>
        </p:nvSpPr>
        <p:spPr>
          <a:xfrm rot="0">
            <a:off x="1028700" y="4925456"/>
            <a:ext cx="16230600" cy="2460624"/>
          </a:xfrm>
          <a:prstGeom prst="rect">
            <a:avLst/>
          </a:prstGeom>
        </p:spPr>
        <p:txBody>
          <a:bodyPr anchor="t" rtlCol="false" tIns="0" lIns="0" bIns="0" rIns="0">
            <a:spAutoFit/>
          </a:bodyPr>
          <a:lstStyle/>
          <a:p>
            <a:pPr algn="just" marL="539753" indent="-269876" lvl="1">
              <a:lnSpc>
                <a:spcPts val="3950"/>
              </a:lnSpc>
              <a:buAutoNum type="arabicPeriod" startAt="1"/>
            </a:pPr>
            <a:r>
              <a:rPr lang="en-US" sz="2500" spc="-22">
                <a:solidFill>
                  <a:srgbClr val="292B2D"/>
                </a:solidFill>
                <a:latin typeface="Object Sans"/>
                <a:ea typeface="Object Sans"/>
                <a:cs typeface="Object Sans"/>
                <a:sym typeface="Object Sans"/>
              </a:rPr>
              <a:t> Engagement Consistency -  Siswa tidak konsisten belajar setiap minggunya yang memicu dropout yang sangat tinggi</a:t>
            </a:r>
          </a:p>
          <a:p>
            <a:pPr algn="just" marL="539753" indent="-269876" lvl="1">
              <a:lnSpc>
                <a:spcPts val="3950"/>
              </a:lnSpc>
              <a:buAutoNum type="arabicPeriod" startAt="1"/>
            </a:pPr>
            <a:r>
              <a:rPr lang="en-US" sz="2500" spc="-22">
                <a:solidFill>
                  <a:srgbClr val="292B2D"/>
                </a:solidFill>
                <a:latin typeface="Object Sans"/>
                <a:ea typeface="Object Sans"/>
                <a:cs typeface="Object Sans"/>
                <a:sym typeface="Object Sans"/>
              </a:rPr>
              <a:t>Total Learning Hours - Dengan sedikitnya waktu kumulatif yang dihabiskan siswa dapat memicu kejenuhan</a:t>
            </a:r>
          </a:p>
          <a:p>
            <a:pPr algn="just" marL="539753" indent="-269876" lvl="1">
              <a:lnSpc>
                <a:spcPts val="3950"/>
              </a:lnSpc>
              <a:buAutoNum type="arabicPeriod" startAt="1"/>
            </a:pPr>
            <a:r>
              <a:rPr lang="en-US" sz="2500" spc="-22">
                <a:solidFill>
                  <a:srgbClr val="292B2D"/>
                </a:solidFill>
                <a:latin typeface="Object Sans"/>
                <a:ea typeface="Object Sans"/>
                <a:cs typeface="Object Sans"/>
                <a:sym typeface="Object Sans"/>
              </a:rPr>
              <a:t>Video Completition Pct - Siswa yang sering skip  video</a:t>
            </a:r>
          </a:p>
        </p:txBody>
      </p:sp>
      <p:sp>
        <p:nvSpPr>
          <p:cNvPr name="TextBox 5" id="5"/>
          <p:cNvSpPr txBox="true"/>
          <p:nvPr/>
        </p:nvSpPr>
        <p:spPr>
          <a:xfrm rot="0">
            <a:off x="1028700" y="8778876"/>
            <a:ext cx="16230600" cy="479424"/>
          </a:xfrm>
          <a:prstGeom prst="rect">
            <a:avLst/>
          </a:prstGeom>
        </p:spPr>
        <p:txBody>
          <a:bodyPr anchor="t" rtlCol="false" tIns="0" lIns="0" bIns="0" rIns="0">
            <a:spAutoFit/>
          </a:bodyPr>
          <a:lstStyle/>
          <a:p>
            <a:pPr algn="just">
              <a:lnSpc>
                <a:spcPts val="3950"/>
              </a:lnSpc>
            </a:pPr>
            <a:r>
              <a:rPr lang="en-US" sz="2500" b="true">
                <a:solidFill>
                  <a:srgbClr val="292B2D"/>
                </a:solidFill>
                <a:latin typeface="Object Sans Bold"/>
                <a:ea typeface="Object Sans Bold"/>
                <a:cs typeface="Object Sans Bold"/>
                <a:sym typeface="Object Sans Bold"/>
              </a:rPr>
              <a:t>Pembuatan Sistem Pengingat &amp; Fitur Gamifikasi yang menekankan aktivitas pengguna/siswa</a:t>
            </a:r>
          </a:p>
        </p:txBody>
      </p:sp>
    </p:spTree>
  </p:cSld>
  <p:clrMapOvr>
    <a:masterClrMapping/>
  </p:clrMapOvr>
</p:sld>
</file>

<file path=ppt/slides/slide13.xml><?xml version="1.0" encoding="utf-8"?>
<p:sld xmlns:p="http://schemas.openxmlformats.org/presentationml/2006/main" xmlns:a="http://schemas.openxmlformats.org/drawingml/2006/main">
  <p:cSld>
    <p:bg>
      <p:bgPr>
        <a:solidFill>
          <a:srgbClr val="F6F4F1"/>
        </a:solidFill>
      </p:bgPr>
    </p:bg>
    <p:spTree>
      <p:nvGrpSpPr>
        <p:cNvPr id="1" name=""/>
        <p:cNvGrpSpPr/>
        <p:nvPr/>
      </p:nvGrpSpPr>
      <p:grpSpPr>
        <a:xfrm>
          <a:off x="0" y="0"/>
          <a:ext cx="0" cy="0"/>
          <a:chOff x="0" y="0"/>
          <a:chExt cx="0" cy="0"/>
        </a:xfrm>
      </p:grpSpPr>
      <p:sp>
        <p:nvSpPr>
          <p:cNvPr name="TextBox 2" id="2"/>
          <p:cNvSpPr txBox="true"/>
          <p:nvPr/>
        </p:nvSpPr>
        <p:spPr>
          <a:xfrm rot="0">
            <a:off x="2879023" y="1152525"/>
            <a:ext cx="12529955" cy="848360"/>
          </a:xfrm>
          <a:prstGeom prst="rect">
            <a:avLst/>
          </a:prstGeom>
        </p:spPr>
        <p:txBody>
          <a:bodyPr anchor="t" rtlCol="false" tIns="0" lIns="0" bIns="0" rIns="0">
            <a:spAutoFit/>
          </a:bodyPr>
          <a:lstStyle/>
          <a:p>
            <a:pPr algn="ctr">
              <a:lnSpc>
                <a:spcPts val="6399"/>
              </a:lnSpc>
            </a:pPr>
            <a:r>
              <a:rPr lang="en-US" sz="6399" spc="-511">
                <a:solidFill>
                  <a:srgbClr val="292B2D"/>
                </a:solidFill>
                <a:latin typeface="Object Sans"/>
                <a:ea typeface="Object Sans"/>
                <a:cs typeface="Object Sans"/>
                <a:sym typeface="Object Sans"/>
              </a:rPr>
              <a:t>THE MOST IMPACTFUL VARIABLE</a:t>
            </a:r>
          </a:p>
        </p:txBody>
      </p:sp>
      <p:sp>
        <p:nvSpPr>
          <p:cNvPr name="TextBox 3" id="3"/>
          <p:cNvSpPr txBox="true"/>
          <p:nvPr/>
        </p:nvSpPr>
        <p:spPr>
          <a:xfrm rot="0">
            <a:off x="1028700" y="2742086"/>
            <a:ext cx="16230600" cy="1171575"/>
          </a:xfrm>
          <a:prstGeom prst="rect">
            <a:avLst/>
          </a:prstGeom>
        </p:spPr>
        <p:txBody>
          <a:bodyPr anchor="t" rtlCol="false" tIns="0" lIns="0" bIns="0" rIns="0">
            <a:spAutoFit/>
          </a:bodyPr>
          <a:lstStyle/>
          <a:p>
            <a:pPr algn="just">
              <a:lnSpc>
                <a:spcPts val="3000"/>
              </a:lnSpc>
            </a:pPr>
            <a:r>
              <a:rPr lang="en-US" sz="3000">
                <a:solidFill>
                  <a:srgbClr val="292B2D"/>
                </a:solidFill>
                <a:latin typeface="Object Sans"/>
                <a:ea typeface="Object Sans"/>
                <a:cs typeface="Object Sans"/>
                <a:sym typeface="Object Sans"/>
              </a:rPr>
              <a:t>[RQ 3] Faktor apa saja yang paling memengaruhi peningkatan kompetensi siswa (Score Improvement), dan sejauh mana pendekatan algoritma regresi dapat memprediksi nilai tersebut?</a:t>
            </a:r>
          </a:p>
        </p:txBody>
      </p:sp>
      <p:sp>
        <p:nvSpPr>
          <p:cNvPr name="TextBox 4" id="4"/>
          <p:cNvSpPr txBox="true"/>
          <p:nvPr/>
        </p:nvSpPr>
        <p:spPr>
          <a:xfrm rot="0">
            <a:off x="1028700" y="4925456"/>
            <a:ext cx="16230600" cy="974724"/>
          </a:xfrm>
          <a:prstGeom prst="rect">
            <a:avLst/>
          </a:prstGeom>
        </p:spPr>
        <p:txBody>
          <a:bodyPr anchor="t" rtlCol="false" tIns="0" lIns="0" bIns="0" rIns="0">
            <a:spAutoFit/>
          </a:bodyPr>
          <a:lstStyle/>
          <a:p>
            <a:pPr algn="just" marL="539753" indent="-269876" lvl="1">
              <a:lnSpc>
                <a:spcPts val="3950"/>
              </a:lnSpc>
              <a:buAutoNum type="arabicPeriod" startAt="1"/>
            </a:pPr>
            <a:r>
              <a:rPr lang="en-US" sz="2500" spc="-22">
                <a:solidFill>
                  <a:srgbClr val="292B2D"/>
                </a:solidFill>
                <a:latin typeface="Object Sans"/>
                <a:ea typeface="Object Sans"/>
                <a:cs typeface="Object Sans"/>
                <a:sym typeface="Object Sans"/>
              </a:rPr>
              <a:t>Rasio Nilai Terhadap Waktu (Quiz Scores &amp; Time Spent)</a:t>
            </a:r>
          </a:p>
          <a:p>
            <a:pPr algn="just" marL="539753" indent="-269876" lvl="1">
              <a:lnSpc>
                <a:spcPts val="3950"/>
              </a:lnSpc>
              <a:buAutoNum type="arabicPeriod" startAt="1"/>
            </a:pPr>
            <a:r>
              <a:rPr lang="en-US" sz="2500" spc="-22">
                <a:solidFill>
                  <a:srgbClr val="292B2D"/>
                </a:solidFill>
                <a:latin typeface="Object Sans"/>
                <a:ea typeface="Object Sans"/>
                <a:cs typeface="Object Sans"/>
                <a:sym typeface="Object Sans"/>
              </a:rPr>
              <a:t>Tingkat Kesulitan Konten (Prior Knowledge &amp; Content Difficulty)</a:t>
            </a:r>
          </a:p>
        </p:txBody>
      </p:sp>
      <p:sp>
        <p:nvSpPr>
          <p:cNvPr name="TextBox 5" id="5"/>
          <p:cNvSpPr txBox="true"/>
          <p:nvPr/>
        </p:nvSpPr>
        <p:spPr>
          <a:xfrm rot="0">
            <a:off x="1028700" y="8778876"/>
            <a:ext cx="16230600" cy="479424"/>
          </a:xfrm>
          <a:prstGeom prst="rect">
            <a:avLst/>
          </a:prstGeom>
        </p:spPr>
        <p:txBody>
          <a:bodyPr anchor="t" rtlCol="false" tIns="0" lIns="0" bIns="0" rIns="0">
            <a:spAutoFit/>
          </a:bodyPr>
          <a:lstStyle/>
          <a:p>
            <a:pPr algn="just">
              <a:lnSpc>
                <a:spcPts val="3950"/>
              </a:lnSpc>
            </a:pPr>
            <a:r>
              <a:rPr lang="en-US" sz="2500" b="true">
                <a:solidFill>
                  <a:srgbClr val="292B2D"/>
                </a:solidFill>
                <a:latin typeface="Object Sans Bold"/>
                <a:ea typeface="Object Sans Bold"/>
                <a:cs typeface="Object Sans Bold"/>
                <a:sym typeface="Object Sans Bold"/>
              </a:rPr>
              <a:t>FUTURE PLANNING</a:t>
            </a:r>
          </a:p>
        </p:txBody>
      </p:sp>
    </p:spTree>
  </p:cSld>
  <p:clrMapOvr>
    <a:masterClrMapping/>
  </p:clrMapOvr>
</p:sld>
</file>

<file path=ppt/slides/slide14.xml><?xml version="1.0" encoding="utf-8"?>
<p:sld xmlns:p="http://schemas.openxmlformats.org/presentationml/2006/main" xmlns:a="http://schemas.openxmlformats.org/drawingml/2006/main">
  <p:cSld>
    <p:bg>
      <p:bgPr>
        <a:solidFill>
          <a:srgbClr val="F6F4F1"/>
        </a:solidFill>
      </p:bgPr>
    </p:bg>
    <p:spTree>
      <p:nvGrpSpPr>
        <p:cNvPr id="1" name=""/>
        <p:cNvGrpSpPr/>
        <p:nvPr/>
      </p:nvGrpSpPr>
      <p:grpSpPr>
        <a:xfrm>
          <a:off x="0" y="0"/>
          <a:ext cx="0" cy="0"/>
          <a:chOff x="0" y="0"/>
          <a:chExt cx="0" cy="0"/>
        </a:xfrm>
      </p:grpSpPr>
      <p:sp>
        <p:nvSpPr>
          <p:cNvPr name="TextBox 2" id="2"/>
          <p:cNvSpPr txBox="true"/>
          <p:nvPr/>
        </p:nvSpPr>
        <p:spPr>
          <a:xfrm rot="0">
            <a:off x="4000864" y="4781233"/>
            <a:ext cx="10286272" cy="848360"/>
          </a:xfrm>
          <a:prstGeom prst="rect">
            <a:avLst/>
          </a:prstGeom>
        </p:spPr>
        <p:txBody>
          <a:bodyPr anchor="t" rtlCol="false" tIns="0" lIns="0" bIns="0" rIns="0">
            <a:spAutoFit/>
          </a:bodyPr>
          <a:lstStyle/>
          <a:p>
            <a:pPr algn="ctr">
              <a:lnSpc>
                <a:spcPts val="6399"/>
              </a:lnSpc>
            </a:pPr>
            <a:r>
              <a:rPr lang="en-US" sz="6399" spc="-511">
                <a:solidFill>
                  <a:srgbClr val="292B2D"/>
                </a:solidFill>
                <a:latin typeface="Object Sans"/>
                <a:ea typeface="Object Sans"/>
                <a:cs typeface="Object Sans"/>
                <a:sym typeface="Object Sans"/>
              </a:rPr>
              <a:t>THANK 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DAHD_FPUTYQ</dc:identifier>
  <dcterms:modified xsi:type="dcterms:W3CDTF">2011-08-01T06:04:30Z</dcterms:modified>
  <cp:revision>1</cp:revision>
  <dc:title>Data modelling</dc:title>
</cp:coreProperties>
</file>